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BM Plex Sans Condensed Bold" charset="1" panose="020B0806050203000203"/>
      <p:regular r:id="rId16"/>
    </p:embeddedFont>
    <p:embeddedFont>
      <p:font typeface="IBM Plex Sans Condensed" charset="1" panose="020B0506050203000203"/>
      <p:regular r:id="rId17"/>
    </p:embeddedFont>
    <p:embeddedFont>
      <p:font typeface="Roboto Bold" charset="1" panose="02000000000000000000"/>
      <p:regular r:id="rId18"/>
    </p:embeddedFont>
    <p:embeddedFont>
      <p:font typeface="Canva Sans" charset="1" panose="020B0503030501040103"/>
      <p:regular r:id="rId19"/>
    </p:embeddedFont>
    <p:embeddedFont>
      <p:font typeface="Roboto" charset="1" panose="02000000000000000000"/>
      <p:regular r:id="rId20"/>
    </p:embeddedFont>
    <p:embeddedFont>
      <p:font typeface="IBM Plex Sans Condensed Medium" charset="1" panose="020B0606050203000203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png" Type="http://schemas.openxmlformats.org/officeDocument/2006/relationships/image"/><Relationship Id="rId12" Target="../media/image15.png" Type="http://schemas.openxmlformats.org/officeDocument/2006/relationships/image"/><Relationship Id="rId13" Target="../media/image16.png" Type="http://schemas.openxmlformats.org/officeDocument/2006/relationships/image"/><Relationship Id="rId14" Target="../media/image17.png" Type="http://schemas.openxmlformats.org/officeDocument/2006/relationships/image"/><Relationship Id="rId15" Target="../media/image18.png" Type="http://schemas.openxmlformats.org/officeDocument/2006/relationships/image"/><Relationship Id="rId16" Target="../media/image19.png" Type="http://schemas.openxmlformats.org/officeDocument/2006/relationships/image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29.png" Type="http://schemas.openxmlformats.org/officeDocument/2006/relationships/image"/><Relationship Id="rId12" Target="../media/image30.png" Type="http://schemas.openxmlformats.org/officeDocument/2006/relationships/image"/><Relationship Id="rId13" Target="../media/image31.png" Type="http://schemas.openxmlformats.org/officeDocument/2006/relationships/image"/><Relationship Id="rId14" Target="../media/image32.png" Type="http://schemas.openxmlformats.org/officeDocument/2006/relationships/image"/><Relationship Id="rId15" Target="../media/image33.png" Type="http://schemas.openxmlformats.org/officeDocument/2006/relationships/image"/><Relationship Id="rId16" Target="../media/image34.png" Type="http://schemas.openxmlformats.org/officeDocument/2006/relationships/image"/><Relationship Id="rId17" Target="../media/image19.png" Type="http://schemas.openxmlformats.org/officeDocument/2006/relationships/image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png" Type="http://schemas.openxmlformats.org/officeDocument/2006/relationships/image"/><Relationship Id="rId11" Target="../media/image44.png" Type="http://schemas.openxmlformats.org/officeDocument/2006/relationships/image"/><Relationship Id="rId12" Target="../media/image45.png" Type="http://schemas.openxmlformats.org/officeDocument/2006/relationships/image"/><Relationship Id="rId13" Target="../media/image46.png" Type="http://schemas.openxmlformats.org/officeDocument/2006/relationships/image"/><Relationship Id="rId14" Target="../media/image47.png" Type="http://schemas.openxmlformats.org/officeDocument/2006/relationships/image"/><Relationship Id="rId15" Target="../media/image48.png" Type="http://schemas.openxmlformats.org/officeDocument/2006/relationships/image"/><Relationship Id="rId16" Target="../media/image49.png" Type="http://schemas.openxmlformats.org/officeDocument/2006/relationships/image"/><Relationship Id="rId17" Target="../media/image50.png" Type="http://schemas.openxmlformats.org/officeDocument/2006/relationships/image"/><Relationship Id="rId18" Target="../media/image51.png" Type="http://schemas.openxmlformats.org/officeDocument/2006/relationships/image"/><Relationship Id="rId19" Target="../media/image52.png" Type="http://schemas.openxmlformats.org/officeDocument/2006/relationships/image"/><Relationship Id="rId2" Target="../media/image35.png" Type="http://schemas.openxmlformats.org/officeDocument/2006/relationships/image"/><Relationship Id="rId20" Target="../media/image53.png" Type="http://schemas.openxmlformats.org/officeDocument/2006/relationships/image"/><Relationship Id="rId21" Target="../media/image54.png" Type="http://schemas.openxmlformats.org/officeDocument/2006/relationships/image"/><Relationship Id="rId22" Target="../media/image55.png" Type="http://schemas.openxmlformats.org/officeDocument/2006/relationships/image"/><Relationship Id="rId23" Target="../media/image19.png" Type="http://schemas.openxmlformats.org/officeDocument/2006/relationships/image"/><Relationship Id="rId3" Target="../media/image36.png" Type="http://schemas.openxmlformats.org/officeDocument/2006/relationships/image"/><Relationship Id="rId4" Target="../media/image37.png" Type="http://schemas.openxmlformats.org/officeDocument/2006/relationships/image"/><Relationship Id="rId5" Target="../media/image38.png" Type="http://schemas.openxmlformats.org/officeDocument/2006/relationships/image"/><Relationship Id="rId6" Target="../media/image39.png" Type="http://schemas.openxmlformats.org/officeDocument/2006/relationships/image"/><Relationship Id="rId7" Target="../media/image40.png" Type="http://schemas.openxmlformats.org/officeDocument/2006/relationships/image"/><Relationship Id="rId8" Target="../media/image41.pn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4.png" Type="http://schemas.openxmlformats.org/officeDocument/2006/relationships/image"/><Relationship Id="rId11" Target="../media/image65.png" Type="http://schemas.openxmlformats.org/officeDocument/2006/relationships/image"/><Relationship Id="rId12" Target="../media/image66.png" Type="http://schemas.openxmlformats.org/officeDocument/2006/relationships/image"/><Relationship Id="rId13" Target="../media/image67.png" Type="http://schemas.openxmlformats.org/officeDocument/2006/relationships/image"/><Relationship Id="rId14" Target="../media/image68.png" Type="http://schemas.openxmlformats.org/officeDocument/2006/relationships/image"/><Relationship Id="rId15" Target="../media/image69.png" Type="http://schemas.openxmlformats.org/officeDocument/2006/relationships/image"/><Relationship Id="rId16" Target="../media/image70.png" Type="http://schemas.openxmlformats.org/officeDocument/2006/relationships/image"/><Relationship Id="rId17" Target="../media/image71.png" Type="http://schemas.openxmlformats.org/officeDocument/2006/relationships/image"/><Relationship Id="rId18" Target="../media/image72.png" Type="http://schemas.openxmlformats.org/officeDocument/2006/relationships/image"/><Relationship Id="rId19" Target="../media/image73.png" Type="http://schemas.openxmlformats.org/officeDocument/2006/relationships/image"/><Relationship Id="rId2" Target="../media/image56.png" Type="http://schemas.openxmlformats.org/officeDocument/2006/relationships/image"/><Relationship Id="rId20" Target="../media/image74.png" Type="http://schemas.openxmlformats.org/officeDocument/2006/relationships/image"/><Relationship Id="rId21" Target="../media/image75.png" Type="http://schemas.openxmlformats.org/officeDocument/2006/relationships/image"/><Relationship Id="rId22" Target="../media/image76.png" Type="http://schemas.openxmlformats.org/officeDocument/2006/relationships/image"/><Relationship Id="rId23" Target="../media/image77.png" Type="http://schemas.openxmlformats.org/officeDocument/2006/relationships/image"/><Relationship Id="rId24" Target="../media/image78.png" Type="http://schemas.openxmlformats.org/officeDocument/2006/relationships/image"/><Relationship Id="rId25" Target="../media/image79.png" Type="http://schemas.openxmlformats.org/officeDocument/2006/relationships/image"/><Relationship Id="rId26" Target="../media/image80.png" Type="http://schemas.openxmlformats.org/officeDocument/2006/relationships/image"/><Relationship Id="rId27" Target="../media/image81.png" Type="http://schemas.openxmlformats.org/officeDocument/2006/relationships/image"/><Relationship Id="rId28" Target="../media/image82.png" Type="http://schemas.openxmlformats.org/officeDocument/2006/relationships/image"/><Relationship Id="rId29" Target="../media/image83.png" Type="http://schemas.openxmlformats.org/officeDocument/2006/relationships/image"/><Relationship Id="rId3" Target="../media/image57.png" Type="http://schemas.openxmlformats.org/officeDocument/2006/relationships/image"/><Relationship Id="rId30" Target="../media/image19.png" Type="http://schemas.openxmlformats.org/officeDocument/2006/relationships/image"/><Relationship Id="rId4" Target="../media/image58.png" Type="http://schemas.openxmlformats.org/officeDocument/2006/relationships/image"/><Relationship Id="rId5" Target="../media/image59.png" Type="http://schemas.openxmlformats.org/officeDocument/2006/relationships/image"/><Relationship Id="rId6" Target="../media/image60.png" Type="http://schemas.openxmlformats.org/officeDocument/2006/relationships/image"/><Relationship Id="rId7" Target="../media/image61.png" Type="http://schemas.openxmlformats.org/officeDocument/2006/relationships/image"/><Relationship Id="rId8" Target="../media/image62.png" Type="http://schemas.openxmlformats.org/officeDocument/2006/relationships/image"/><Relationship Id="rId9" Target="../media/image6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2.png" Type="http://schemas.openxmlformats.org/officeDocument/2006/relationships/image"/><Relationship Id="rId11" Target="../media/image93.png" Type="http://schemas.openxmlformats.org/officeDocument/2006/relationships/image"/><Relationship Id="rId12" Target="../media/image94.png" Type="http://schemas.openxmlformats.org/officeDocument/2006/relationships/image"/><Relationship Id="rId13" Target="../media/image95.png" Type="http://schemas.openxmlformats.org/officeDocument/2006/relationships/image"/><Relationship Id="rId14" Target="../media/image96.png" Type="http://schemas.openxmlformats.org/officeDocument/2006/relationships/image"/><Relationship Id="rId15" Target="../media/image97.png" Type="http://schemas.openxmlformats.org/officeDocument/2006/relationships/image"/><Relationship Id="rId16" Target="../media/image19.png" Type="http://schemas.openxmlformats.org/officeDocument/2006/relationships/image"/><Relationship Id="rId2" Target="../media/image84.png" Type="http://schemas.openxmlformats.org/officeDocument/2006/relationships/image"/><Relationship Id="rId3" Target="../media/image85.png" Type="http://schemas.openxmlformats.org/officeDocument/2006/relationships/image"/><Relationship Id="rId4" Target="../media/image86.png" Type="http://schemas.openxmlformats.org/officeDocument/2006/relationships/image"/><Relationship Id="rId5" Target="../media/image87.png" Type="http://schemas.openxmlformats.org/officeDocument/2006/relationships/image"/><Relationship Id="rId6" Target="../media/image88.png" Type="http://schemas.openxmlformats.org/officeDocument/2006/relationships/image"/><Relationship Id="rId7" Target="../media/image89.png" Type="http://schemas.openxmlformats.org/officeDocument/2006/relationships/image"/><Relationship Id="rId8" Target="../media/image90.png" Type="http://schemas.openxmlformats.org/officeDocument/2006/relationships/image"/><Relationship Id="rId9" Target="../media/image9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8.png" Type="http://schemas.openxmlformats.org/officeDocument/2006/relationships/image"/><Relationship Id="rId3" Target="../media/image99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8.png" Type="http://schemas.openxmlformats.org/officeDocument/2006/relationships/image"/><Relationship Id="rId11" Target="../media/image109.png" Type="http://schemas.openxmlformats.org/officeDocument/2006/relationships/image"/><Relationship Id="rId12" Target="../media/image110.png" Type="http://schemas.openxmlformats.org/officeDocument/2006/relationships/image"/><Relationship Id="rId13" Target="../media/image111.png" Type="http://schemas.openxmlformats.org/officeDocument/2006/relationships/image"/><Relationship Id="rId14" Target="../media/image112.png" Type="http://schemas.openxmlformats.org/officeDocument/2006/relationships/image"/><Relationship Id="rId15" Target="../media/image113.png" Type="http://schemas.openxmlformats.org/officeDocument/2006/relationships/image"/><Relationship Id="rId16" Target="../media/image114.png" Type="http://schemas.openxmlformats.org/officeDocument/2006/relationships/image"/><Relationship Id="rId17" Target="../media/image19.png" Type="http://schemas.openxmlformats.org/officeDocument/2006/relationships/image"/><Relationship Id="rId2" Target="../media/image100.png" Type="http://schemas.openxmlformats.org/officeDocument/2006/relationships/image"/><Relationship Id="rId3" Target="../media/image101.png" Type="http://schemas.openxmlformats.org/officeDocument/2006/relationships/image"/><Relationship Id="rId4" Target="../media/image102.png" Type="http://schemas.openxmlformats.org/officeDocument/2006/relationships/image"/><Relationship Id="rId5" Target="../media/image103.png" Type="http://schemas.openxmlformats.org/officeDocument/2006/relationships/image"/><Relationship Id="rId6" Target="../media/image104.png" Type="http://schemas.openxmlformats.org/officeDocument/2006/relationships/image"/><Relationship Id="rId7" Target="../media/image105.png" Type="http://schemas.openxmlformats.org/officeDocument/2006/relationships/image"/><Relationship Id="rId8" Target="../media/image106.png" Type="http://schemas.openxmlformats.org/officeDocument/2006/relationships/image"/><Relationship Id="rId9" Target="../media/image10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3.png" Type="http://schemas.openxmlformats.org/officeDocument/2006/relationships/image"/><Relationship Id="rId11" Target="../media/image124.png" Type="http://schemas.openxmlformats.org/officeDocument/2006/relationships/image"/><Relationship Id="rId12" Target="../media/image125.png" Type="http://schemas.openxmlformats.org/officeDocument/2006/relationships/image"/><Relationship Id="rId13" Target="../media/image126.png" Type="http://schemas.openxmlformats.org/officeDocument/2006/relationships/image"/><Relationship Id="rId14" Target="../media/image127.png" Type="http://schemas.openxmlformats.org/officeDocument/2006/relationships/image"/><Relationship Id="rId15" Target="../media/image128.png" Type="http://schemas.openxmlformats.org/officeDocument/2006/relationships/image"/><Relationship Id="rId16" Target="../media/image129.png" Type="http://schemas.openxmlformats.org/officeDocument/2006/relationships/image"/><Relationship Id="rId17" Target="../media/image130.png" Type="http://schemas.openxmlformats.org/officeDocument/2006/relationships/image"/><Relationship Id="rId18" Target="../media/image131.png" Type="http://schemas.openxmlformats.org/officeDocument/2006/relationships/image"/><Relationship Id="rId19" Target="../media/image132.png" Type="http://schemas.openxmlformats.org/officeDocument/2006/relationships/image"/><Relationship Id="rId2" Target="../media/image115.png" Type="http://schemas.openxmlformats.org/officeDocument/2006/relationships/image"/><Relationship Id="rId20" Target="../media/image133.png" Type="http://schemas.openxmlformats.org/officeDocument/2006/relationships/image"/><Relationship Id="rId21" Target="../media/image134.png" Type="http://schemas.openxmlformats.org/officeDocument/2006/relationships/image"/><Relationship Id="rId22" Target="../media/image135.png" Type="http://schemas.openxmlformats.org/officeDocument/2006/relationships/image"/><Relationship Id="rId23" Target="../media/image19.png" Type="http://schemas.openxmlformats.org/officeDocument/2006/relationships/image"/><Relationship Id="rId3" Target="../media/image116.png" Type="http://schemas.openxmlformats.org/officeDocument/2006/relationships/image"/><Relationship Id="rId4" Target="../media/image117.png" Type="http://schemas.openxmlformats.org/officeDocument/2006/relationships/image"/><Relationship Id="rId5" Target="../media/image118.png" Type="http://schemas.openxmlformats.org/officeDocument/2006/relationships/image"/><Relationship Id="rId6" Target="../media/image119.png" Type="http://schemas.openxmlformats.org/officeDocument/2006/relationships/image"/><Relationship Id="rId7" Target="../media/image120.png" Type="http://schemas.openxmlformats.org/officeDocument/2006/relationships/image"/><Relationship Id="rId8" Target="../media/image121.png" Type="http://schemas.openxmlformats.org/officeDocument/2006/relationships/image"/><Relationship Id="rId9" Target="../media/image12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6.png" Type="http://schemas.openxmlformats.org/officeDocument/2006/relationships/image"/><Relationship Id="rId3" Target="../media/image137.png" Type="http://schemas.openxmlformats.org/officeDocument/2006/relationships/image"/><Relationship Id="rId4" Target="../media/image138.png" Type="http://schemas.openxmlformats.org/officeDocument/2006/relationships/image"/><Relationship Id="rId5" Target="../media/image139.png" Type="http://schemas.openxmlformats.org/officeDocument/2006/relationships/image"/><Relationship Id="rId6" Target="../media/image140.png" Type="http://schemas.openxmlformats.org/officeDocument/2006/relationships/image"/><Relationship Id="rId7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82775" y="1924050"/>
            <a:ext cx="1095375" cy="1724025"/>
          </a:xfrm>
          <a:custGeom>
            <a:avLst/>
            <a:gdLst/>
            <a:ahLst/>
            <a:cxnLst/>
            <a:rect r="r" b="b" t="t" l="l"/>
            <a:pathLst>
              <a:path h="1724025" w="1095375">
                <a:moveTo>
                  <a:pt x="0" y="0"/>
                </a:moveTo>
                <a:lnTo>
                  <a:pt x="1095375" y="0"/>
                </a:lnTo>
                <a:lnTo>
                  <a:pt x="109537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29850" y="5572125"/>
            <a:ext cx="3924300" cy="3219450"/>
          </a:xfrm>
          <a:custGeom>
            <a:avLst/>
            <a:gdLst/>
            <a:ahLst/>
            <a:cxnLst/>
            <a:rect r="r" b="b" t="t" l="l"/>
            <a:pathLst>
              <a:path h="3219450" w="3924300">
                <a:moveTo>
                  <a:pt x="0" y="0"/>
                </a:moveTo>
                <a:lnTo>
                  <a:pt x="3924300" y="0"/>
                </a:lnTo>
                <a:lnTo>
                  <a:pt x="392430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86384" y="538170"/>
            <a:ext cx="6419088" cy="1142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24"/>
              </a:lnSpc>
            </a:pPr>
            <a:r>
              <a:rPr lang="en-US" sz="8624" b="true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INTELLIGENT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93886" y="5780508"/>
            <a:ext cx="8091366" cy="425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306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Optimizing Taxi Routes using </a:t>
            </a:r>
            <a:r>
              <a:rPr lang="en-US" sz="3067" b="true">
                <a:solidFill>
                  <a:srgbClr val="0085D4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DQN, Dijkstra &amp; A*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4552" y="7921244"/>
            <a:ext cx="8066268" cy="438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1"/>
              </a:lnSpc>
            </a:pPr>
            <a:r>
              <a:rPr lang="en-US" sz="322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Jashandeep Singh </a:t>
            </a:r>
            <a:r>
              <a:rPr lang="en-US" sz="3220" b="true">
                <a:solidFill>
                  <a:srgbClr val="0085D4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72510438(CTU2500040)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1785" y="8427574"/>
            <a:ext cx="9577915" cy="401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1"/>
              </a:lnSpc>
            </a:pPr>
            <a:r>
              <a:rPr lang="en-US" sz="297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Harshpreet Singh Malhi  —  </a:t>
            </a:r>
            <a:r>
              <a:rPr lang="en-US" sz="2973" b="true">
                <a:solidFill>
                  <a:srgbClr val="0085D4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72520287(CTU2502005)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6384" y="1622072"/>
            <a:ext cx="7479792" cy="2260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53"/>
              </a:lnSpc>
            </a:pPr>
            <a:r>
              <a:rPr lang="en-US" sz="8753" b="true">
                <a:solidFill>
                  <a:srgbClr val="0085D4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TAXI ROUTE OPTIMIZATION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6585" y="3863238"/>
            <a:ext cx="8668512" cy="1639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4"/>
              </a:lnSpc>
            </a:pPr>
            <a:r>
              <a:rPr lang="en-US" sz="606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USING REINFORCEMENT LEARNING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4552" y="6655982"/>
            <a:ext cx="7401555" cy="994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6"/>
              </a:lnSpc>
            </a:pPr>
            <a:r>
              <a:rPr lang="en-US" sz="286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SUBMITTED TO - MS.KHUSHI RATTAN(IBM)</a:t>
            </a:r>
          </a:p>
          <a:p>
            <a:pPr algn="ctr">
              <a:lnSpc>
                <a:spcPts val="4006"/>
              </a:lnSpc>
            </a:pPr>
            <a:r>
              <a:rPr lang="en-US" sz="286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SUBMITTED BY-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3681262" y="0"/>
            <a:ext cx="4406989" cy="2150607"/>
            <a:chOff x="0" y="0"/>
            <a:chExt cx="3122905" cy="1523975"/>
          </a:xfrm>
        </p:grpSpPr>
        <p:sp>
          <p:nvSpPr>
            <p:cNvPr name="Freeform 13" id="13" descr="logoctu.png"/>
            <p:cNvSpPr/>
            <p:nvPr/>
          </p:nvSpPr>
          <p:spPr>
            <a:xfrm flipH="false" flipV="false" rot="0">
              <a:off x="0" y="0"/>
              <a:ext cx="312293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122930">
                  <a:moveTo>
                    <a:pt x="0" y="0"/>
                  </a:moveTo>
                  <a:lnTo>
                    <a:pt x="3122930" y="0"/>
                  </a:lnTo>
                  <a:lnTo>
                    <a:pt x="312293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8368" y="758808"/>
            <a:ext cx="5120640" cy="1214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91"/>
              </a:lnSpc>
            </a:pPr>
            <a:r>
              <a:rPr lang="en-US" sz="9191" b="true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PROBLEM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58368" y="1797795"/>
            <a:ext cx="6766560" cy="1214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91"/>
              </a:lnSpc>
            </a:pPr>
            <a:r>
              <a:rPr lang="en-US" sz="9191" b="true">
                <a:solidFill>
                  <a:srgbClr val="00A4E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STATEMENT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94944" y="3593890"/>
            <a:ext cx="5010912" cy="86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7"/>
              </a:lnSpc>
            </a:pPr>
            <a:r>
              <a:rPr lang="en-US" sz="249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Taxi routing must balance distance, time, traffic, and operational cost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4944" y="4931200"/>
            <a:ext cx="4846320" cy="86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7"/>
              </a:lnSpc>
            </a:pPr>
            <a:r>
              <a:rPr lang="en-US" sz="249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Traditional shortest-path methods rely on fixed, static costs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4944" y="6186041"/>
            <a:ext cx="4315968" cy="985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0"/>
              </a:lnSpc>
            </a:pPr>
            <a:r>
              <a:rPr lang="en-US" sz="281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Traffic conditions are dynamic and unpredictable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4944" y="7605123"/>
            <a:ext cx="4645152" cy="1335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7"/>
              </a:lnSpc>
            </a:pPr>
            <a:r>
              <a:rPr lang="en-US" sz="253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Reinforcement learning enables </a:t>
            </a:r>
            <a:r>
              <a:rPr lang="en-US" sz="2533" b="true">
                <a:solidFill>
                  <a:srgbClr val="00A4E0"/>
                </a:solidFill>
                <a:latin typeface="Roboto Bold"/>
                <a:ea typeface="Roboto Bold"/>
                <a:cs typeface="Roboto Bold"/>
                <a:sym typeface="Roboto Bold"/>
              </a:rPr>
              <a:t>adaptive</a:t>
            </a:r>
            <a:r>
              <a:rPr lang="en-US" sz="253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route decisions through </a:t>
            </a:r>
            <a:r>
              <a:rPr lang="en-US" sz="2533" b="true">
                <a:solidFill>
                  <a:srgbClr val="00A4E0"/>
                </a:solidFill>
                <a:latin typeface="Roboto Bold"/>
                <a:ea typeface="Roboto Bold"/>
                <a:cs typeface="Roboto Bold"/>
                <a:sym typeface="Roboto Bold"/>
              </a:rPr>
              <a:t>environment interaction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305550" y="3429000"/>
            <a:ext cx="2190750" cy="4714875"/>
          </a:xfrm>
          <a:custGeom>
            <a:avLst/>
            <a:gdLst/>
            <a:ahLst/>
            <a:cxnLst/>
            <a:rect r="r" b="b" t="t" l="l"/>
            <a:pathLst>
              <a:path h="4714875" w="2190750">
                <a:moveTo>
                  <a:pt x="0" y="0"/>
                </a:moveTo>
                <a:lnTo>
                  <a:pt x="2190750" y="0"/>
                </a:lnTo>
                <a:lnTo>
                  <a:pt x="2190750" y="4714875"/>
                </a:lnTo>
                <a:lnTo>
                  <a:pt x="0" y="4714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305550" y="3638550"/>
            <a:ext cx="2190750" cy="3438525"/>
          </a:xfrm>
          <a:custGeom>
            <a:avLst/>
            <a:gdLst/>
            <a:ahLst/>
            <a:cxnLst/>
            <a:rect r="r" b="b" t="t" l="l"/>
            <a:pathLst>
              <a:path h="3438525" w="2190750">
                <a:moveTo>
                  <a:pt x="0" y="0"/>
                </a:moveTo>
                <a:lnTo>
                  <a:pt x="2190750" y="0"/>
                </a:lnTo>
                <a:lnTo>
                  <a:pt x="2190750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486775" y="3429000"/>
            <a:ext cx="2181225" cy="4714875"/>
          </a:xfrm>
          <a:custGeom>
            <a:avLst/>
            <a:gdLst/>
            <a:ahLst/>
            <a:cxnLst/>
            <a:rect r="r" b="b" t="t" l="l"/>
            <a:pathLst>
              <a:path h="4714875" w="2181225">
                <a:moveTo>
                  <a:pt x="0" y="0"/>
                </a:moveTo>
                <a:lnTo>
                  <a:pt x="2181225" y="0"/>
                </a:lnTo>
                <a:lnTo>
                  <a:pt x="2181225" y="4714875"/>
                </a:lnTo>
                <a:lnTo>
                  <a:pt x="0" y="47148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705850" y="3638550"/>
            <a:ext cx="1962150" cy="3438525"/>
          </a:xfrm>
          <a:custGeom>
            <a:avLst/>
            <a:gdLst/>
            <a:ahLst/>
            <a:cxnLst/>
            <a:rect r="r" b="b" t="t" l="l"/>
            <a:pathLst>
              <a:path h="3438525" w="1962150">
                <a:moveTo>
                  <a:pt x="0" y="0"/>
                </a:moveTo>
                <a:lnTo>
                  <a:pt x="1962150" y="0"/>
                </a:lnTo>
                <a:lnTo>
                  <a:pt x="1962150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070848" y="7138118"/>
            <a:ext cx="1298448" cy="60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1"/>
              </a:lnSpc>
            </a:pPr>
            <a:r>
              <a:rPr lang="en-US" b="true" sz="2146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ROAD NETWORK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448925" y="514350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877550" y="3429000"/>
            <a:ext cx="2190750" cy="4714875"/>
          </a:xfrm>
          <a:custGeom>
            <a:avLst/>
            <a:gdLst/>
            <a:ahLst/>
            <a:cxnLst/>
            <a:rect r="r" b="b" t="t" l="l"/>
            <a:pathLst>
              <a:path h="4714875" w="2190750">
                <a:moveTo>
                  <a:pt x="0" y="0"/>
                </a:moveTo>
                <a:lnTo>
                  <a:pt x="2190750" y="0"/>
                </a:lnTo>
                <a:lnTo>
                  <a:pt x="2190750" y="4714875"/>
                </a:lnTo>
                <a:lnTo>
                  <a:pt x="0" y="47148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877550" y="3638550"/>
            <a:ext cx="2190750" cy="3438525"/>
          </a:xfrm>
          <a:custGeom>
            <a:avLst/>
            <a:gdLst/>
            <a:ahLst/>
            <a:cxnLst/>
            <a:rect r="r" b="b" t="t" l="l"/>
            <a:pathLst>
              <a:path h="3438525" w="2190750">
                <a:moveTo>
                  <a:pt x="0" y="0"/>
                </a:moveTo>
                <a:lnTo>
                  <a:pt x="2190750" y="0"/>
                </a:lnTo>
                <a:lnTo>
                  <a:pt x="2190750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192256" y="7157526"/>
            <a:ext cx="1572768" cy="579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9"/>
              </a:lnSpc>
            </a:pPr>
            <a:r>
              <a:rPr lang="en-US" b="true" sz="209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TRAFFIC CONDITIONS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3058775" y="3429000"/>
            <a:ext cx="2181225" cy="4714875"/>
          </a:xfrm>
          <a:custGeom>
            <a:avLst/>
            <a:gdLst/>
            <a:ahLst/>
            <a:cxnLst/>
            <a:rect r="r" b="b" t="t" l="l"/>
            <a:pathLst>
              <a:path h="4714875" w="2181225">
                <a:moveTo>
                  <a:pt x="0" y="0"/>
                </a:moveTo>
                <a:lnTo>
                  <a:pt x="2181225" y="0"/>
                </a:lnTo>
                <a:lnTo>
                  <a:pt x="2181225" y="4714875"/>
                </a:lnTo>
                <a:lnTo>
                  <a:pt x="0" y="47148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277850" y="3638550"/>
            <a:ext cx="1962150" cy="3438525"/>
          </a:xfrm>
          <a:custGeom>
            <a:avLst/>
            <a:gdLst/>
            <a:ahLst/>
            <a:cxnLst/>
            <a:rect r="r" b="b" t="t" l="l"/>
            <a:pathLst>
              <a:path h="3438525" w="1962150">
                <a:moveTo>
                  <a:pt x="0" y="0"/>
                </a:moveTo>
                <a:lnTo>
                  <a:pt x="1962150" y="0"/>
                </a:lnTo>
                <a:lnTo>
                  <a:pt x="1962150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3642848" y="7138118"/>
            <a:ext cx="1225296" cy="60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1"/>
              </a:lnSpc>
            </a:pPr>
            <a:r>
              <a:rPr lang="en-US" b="true" sz="2146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ROUTE DECISION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2620625" y="5143500"/>
            <a:ext cx="885825" cy="647700"/>
          </a:xfrm>
          <a:custGeom>
            <a:avLst/>
            <a:gdLst/>
            <a:ahLst/>
            <a:cxnLst/>
            <a:rect r="r" b="b" t="t" l="l"/>
            <a:pathLst>
              <a:path h="647700" w="885825">
                <a:moveTo>
                  <a:pt x="0" y="0"/>
                </a:moveTo>
                <a:lnTo>
                  <a:pt x="885825" y="0"/>
                </a:lnTo>
                <a:lnTo>
                  <a:pt x="8858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5449550" y="3429000"/>
            <a:ext cx="2190750" cy="4714875"/>
          </a:xfrm>
          <a:custGeom>
            <a:avLst/>
            <a:gdLst/>
            <a:ahLst/>
            <a:cxnLst/>
            <a:rect r="r" b="b" t="t" l="l"/>
            <a:pathLst>
              <a:path h="4714875" w="2190750">
                <a:moveTo>
                  <a:pt x="0" y="0"/>
                </a:moveTo>
                <a:lnTo>
                  <a:pt x="2190750" y="0"/>
                </a:lnTo>
                <a:lnTo>
                  <a:pt x="2190750" y="4714875"/>
                </a:lnTo>
                <a:lnTo>
                  <a:pt x="0" y="47148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449550" y="3638550"/>
            <a:ext cx="2190750" cy="3438525"/>
          </a:xfrm>
          <a:custGeom>
            <a:avLst/>
            <a:gdLst/>
            <a:ahLst/>
            <a:cxnLst/>
            <a:rect r="r" b="b" t="t" l="l"/>
            <a:pathLst>
              <a:path h="3438525" w="2190750">
                <a:moveTo>
                  <a:pt x="0" y="0"/>
                </a:moveTo>
                <a:lnTo>
                  <a:pt x="2190750" y="0"/>
                </a:lnTo>
                <a:lnTo>
                  <a:pt x="2190750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5709392" y="7229189"/>
            <a:ext cx="1682496" cy="34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7"/>
              </a:lnSpc>
            </a:pPr>
            <a:r>
              <a:rPr lang="en-US" b="true" sz="2062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DESTINATION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5020925" y="514350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7077456" y="7211568"/>
            <a:ext cx="603504" cy="373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b="true" sz="2175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TAXI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6135066" y="-19975"/>
            <a:ext cx="2232834" cy="2232834"/>
          </a:xfrm>
          <a:custGeom>
            <a:avLst/>
            <a:gdLst/>
            <a:ahLst/>
            <a:cxnLst/>
            <a:rect r="r" b="b" t="t" l="l"/>
            <a:pathLst>
              <a:path h="2232834" w="2232834">
                <a:moveTo>
                  <a:pt x="0" y="0"/>
                </a:moveTo>
                <a:lnTo>
                  <a:pt x="2232834" y="0"/>
                </a:lnTo>
                <a:lnTo>
                  <a:pt x="2232834" y="2232834"/>
                </a:lnTo>
                <a:lnTo>
                  <a:pt x="0" y="223283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6656" y="770638"/>
            <a:ext cx="6711696" cy="1262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64"/>
              </a:lnSpc>
            </a:pPr>
            <a:r>
              <a:rPr lang="en-US" b="true" sz="9564" spc="-191">
                <a:solidFill>
                  <a:srgbClr val="0085CD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OBJECTIVES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7700" y="2781300"/>
            <a:ext cx="2400300" cy="6010275"/>
          </a:xfrm>
          <a:custGeom>
            <a:avLst/>
            <a:gdLst/>
            <a:ahLst/>
            <a:cxnLst/>
            <a:rect r="r" b="b" t="t" l="l"/>
            <a:pathLst>
              <a:path h="6010275" w="2400300">
                <a:moveTo>
                  <a:pt x="0" y="0"/>
                </a:moveTo>
                <a:lnTo>
                  <a:pt x="2400300" y="0"/>
                </a:lnTo>
                <a:lnTo>
                  <a:pt x="2400300" y="6010275"/>
                </a:lnTo>
                <a:lnTo>
                  <a:pt x="0" y="60102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6775" y="3429000"/>
            <a:ext cx="1752600" cy="1933575"/>
          </a:xfrm>
          <a:custGeom>
            <a:avLst/>
            <a:gdLst/>
            <a:ahLst/>
            <a:cxnLst/>
            <a:rect r="r" b="b" t="t" l="l"/>
            <a:pathLst>
              <a:path h="1933575" w="1752600">
                <a:moveTo>
                  <a:pt x="0" y="0"/>
                </a:moveTo>
                <a:lnTo>
                  <a:pt x="1752600" y="0"/>
                </a:lnTo>
                <a:lnTo>
                  <a:pt x="17526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4128" y="5867519"/>
            <a:ext cx="1572768" cy="2179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9"/>
              </a:lnSpc>
            </a:pPr>
            <a:r>
              <a:rPr lang="en-US" sz="2306" spc="-4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Develop an intelligent taxi route optimization system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3048000" y="2781300"/>
            <a:ext cx="2400300" cy="6010275"/>
          </a:xfrm>
          <a:custGeom>
            <a:avLst/>
            <a:gdLst/>
            <a:ahLst/>
            <a:cxnLst/>
            <a:rect r="r" b="b" t="t" l="l"/>
            <a:pathLst>
              <a:path h="6010275" w="2400300">
                <a:moveTo>
                  <a:pt x="0" y="0"/>
                </a:moveTo>
                <a:lnTo>
                  <a:pt x="2400300" y="0"/>
                </a:lnTo>
                <a:lnTo>
                  <a:pt x="2400300" y="6010275"/>
                </a:lnTo>
                <a:lnTo>
                  <a:pt x="0" y="60102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257550" y="3429000"/>
            <a:ext cx="1752600" cy="1933575"/>
          </a:xfrm>
          <a:custGeom>
            <a:avLst/>
            <a:gdLst/>
            <a:ahLst/>
            <a:cxnLst/>
            <a:rect r="r" b="b" t="t" l="l"/>
            <a:pathLst>
              <a:path h="1933575" w="1752600">
                <a:moveTo>
                  <a:pt x="0" y="0"/>
                </a:moveTo>
                <a:lnTo>
                  <a:pt x="1752600" y="0"/>
                </a:lnTo>
                <a:lnTo>
                  <a:pt x="17526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511296" y="5886932"/>
            <a:ext cx="1335024" cy="1667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7"/>
              </a:lnSpc>
            </a:pPr>
            <a:r>
              <a:rPr lang="en-US" sz="2245" spc="-4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Compare Dijkstra, A* and DQN algorithms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438775" y="2781300"/>
            <a:ext cx="2400300" cy="6010275"/>
          </a:xfrm>
          <a:custGeom>
            <a:avLst/>
            <a:gdLst/>
            <a:ahLst/>
            <a:cxnLst/>
            <a:rect r="r" b="b" t="t" l="l"/>
            <a:pathLst>
              <a:path h="6010275" w="2400300">
                <a:moveTo>
                  <a:pt x="0" y="0"/>
                </a:moveTo>
                <a:lnTo>
                  <a:pt x="2400300" y="0"/>
                </a:lnTo>
                <a:lnTo>
                  <a:pt x="2400300" y="6010275"/>
                </a:lnTo>
                <a:lnTo>
                  <a:pt x="0" y="60102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438775" y="3638550"/>
            <a:ext cx="2181225" cy="1724025"/>
          </a:xfrm>
          <a:custGeom>
            <a:avLst/>
            <a:gdLst/>
            <a:ahLst/>
            <a:cxnLst/>
            <a:rect r="r" b="b" t="t" l="l"/>
            <a:pathLst>
              <a:path h="1724025" w="2181225">
                <a:moveTo>
                  <a:pt x="0" y="0"/>
                </a:moveTo>
                <a:lnTo>
                  <a:pt x="2181225" y="0"/>
                </a:lnTo>
                <a:lnTo>
                  <a:pt x="218122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888736" y="5800746"/>
            <a:ext cx="1572768" cy="1848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6"/>
              </a:lnSpc>
            </a:pPr>
            <a:r>
              <a:rPr lang="en-US" sz="1971" spc="-3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Incorporate simulated dynamic traffic conditions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829550" y="2781300"/>
            <a:ext cx="2409825" cy="6010275"/>
          </a:xfrm>
          <a:custGeom>
            <a:avLst/>
            <a:gdLst/>
            <a:ahLst/>
            <a:cxnLst/>
            <a:rect r="r" b="b" t="t" l="l"/>
            <a:pathLst>
              <a:path h="6010275" w="2409825">
                <a:moveTo>
                  <a:pt x="0" y="0"/>
                </a:moveTo>
                <a:lnTo>
                  <a:pt x="2409825" y="0"/>
                </a:lnTo>
                <a:lnTo>
                  <a:pt x="2409825" y="6010275"/>
                </a:lnTo>
                <a:lnTo>
                  <a:pt x="0" y="60102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048625" y="3209925"/>
            <a:ext cx="1971675" cy="2362200"/>
          </a:xfrm>
          <a:custGeom>
            <a:avLst/>
            <a:gdLst/>
            <a:ahLst/>
            <a:cxnLst/>
            <a:rect r="r" b="b" t="t" l="l"/>
            <a:pathLst>
              <a:path h="2362200" w="1971675">
                <a:moveTo>
                  <a:pt x="0" y="0"/>
                </a:moveTo>
                <a:lnTo>
                  <a:pt x="1971675" y="0"/>
                </a:lnTo>
                <a:lnTo>
                  <a:pt x="197167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174736" y="5890751"/>
            <a:ext cx="1773936" cy="2132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3"/>
              </a:lnSpc>
            </a:pPr>
            <a:r>
              <a:rPr lang="en-US" sz="2275" spc="-4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Optimize multiple objectives: cost, distance, travel time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0229850" y="2781300"/>
            <a:ext cx="2619375" cy="6010275"/>
          </a:xfrm>
          <a:custGeom>
            <a:avLst/>
            <a:gdLst/>
            <a:ahLst/>
            <a:cxnLst/>
            <a:rect r="r" b="b" t="t" l="l"/>
            <a:pathLst>
              <a:path h="6010275" w="2619375">
                <a:moveTo>
                  <a:pt x="0" y="0"/>
                </a:moveTo>
                <a:lnTo>
                  <a:pt x="2619375" y="0"/>
                </a:lnTo>
                <a:lnTo>
                  <a:pt x="2619375" y="6010275"/>
                </a:lnTo>
                <a:lnTo>
                  <a:pt x="0" y="60102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877550" y="3638550"/>
            <a:ext cx="1533525" cy="1724025"/>
          </a:xfrm>
          <a:custGeom>
            <a:avLst/>
            <a:gdLst/>
            <a:ahLst/>
            <a:cxnLst/>
            <a:rect r="r" b="b" t="t" l="l"/>
            <a:pathLst>
              <a:path h="1724025" w="1533525">
                <a:moveTo>
                  <a:pt x="0" y="0"/>
                </a:moveTo>
                <a:lnTo>
                  <a:pt x="1533525" y="0"/>
                </a:lnTo>
                <a:lnTo>
                  <a:pt x="153352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552176" y="5890751"/>
            <a:ext cx="1993392" cy="2132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3"/>
              </a:lnSpc>
            </a:pPr>
            <a:r>
              <a:rPr lang="en-US" sz="2275" spc="-4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Provide comparative route analysis and quantitative evaluation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2839700" y="2781300"/>
            <a:ext cx="2400300" cy="6010275"/>
          </a:xfrm>
          <a:custGeom>
            <a:avLst/>
            <a:gdLst/>
            <a:ahLst/>
            <a:cxnLst/>
            <a:rect r="r" b="b" t="t" l="l"/>
            <a:pathLst>
              <a:path h="6010275" w="2400300">
                <a:moveTo>
                  <a:pt x="0" y="0"/>
                </a:moveTo>
                <a:lnTo>
                  <a:pt x="2400300" y="0"/>
                </a:lnTo>
                <a:lnTo>
                  <a:pt x="2400300" y="6010275"/>
                </a:lnTo>
                <a:lnTo>
                  <a:pt x="0" y="60102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058775" y="3638550"/>
            <a:ext cx="1971675" cy="1724025"/>
          </a:xfrm>
          <a:custGeom>
            <a:avLst/>
            <a:gdLst/>
            <a:ahLst/>
            <a:cxnLst/>
            <a:rect r="r" b="b" t="t" l="l"/>
            <a:pathLst>
              <a:path h="1724025" w="1971675">
                <a:moveTo>
                  <a:pt x="0" y="0"/>
                </a:moveTo>
                <a:lnTo>
                  <a:pt x="1971675" y="0"/>
                </a:lnTo>
                <a:lnTo>
                  <a:pt x="197167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3313664" y="6324279"/>
            <a:ext cx="1444752" cy="820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9"/>
              </a:lnSpc>
            </a:pPr>
            <a:r>
              <a:rPr lang="en-US" sz="1453" spc="-2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Build a web-based interactive dashboard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5240000" y="2781300"/>
            <a:ext cx="2400300" cy="6010275"/>
          </a:xfrm>
          <a:custGeom>
            <a:avLst/>
            <a:gdLst/>
            <a:ahLst/>
            <a:cxnLst/>
            <a:rect r="r" b="b" t="t" l="l"/>
            <a:pathLst>
              <a:path h="6010275" w="2400300">
                <a:moveTo>
                  <a:pt x="0" y="0"/>
                </a:moveTo>
                <a:lnTo>
                  <a:pt x="2400300" y="0"/>
                </a:lnTo>
                <a:lnTo>
                  <a:pt x="2400300" y="6010275"/>
                </a:lnTo>
                <a:lnTo>
                  <a:pt x="0" y="60102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449550" y="3638550"/>
            <a:ext cx="1971675" cy="1724025"/>
          </a:xfrm>
          <a:custGeom>
            <a:avLst/>
            <a:gdLst/>
            <a:ahLst/>
            <a:cxnLst/>
            <a:rect r="r" b="b" t="t" l="l"/>
            <a:pathLst>
              <a:path h="1724025" w="1971675">
                <a:moveTo>
                  <a:pt x="0" y="0"/>
                </a:moveTo>
                <a:lnTo>
                  <a:pt x="1971675" y="0"/>
                </a:lnTo>
                <a:lnTo>
                  <a:pt x="197167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5471648" y="5798984"/>
            <a:ext cx="2084832" cy="2316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87"/>
              </a:lnSpc>
            </a:pPr>
            <a:r>
              <a:rPr lang="en-US" sz="2458" spc="-4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Provide training analytics for the reinforcement learning model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6055166" y="0"/>
            <a:ext cx="2232834" cy="2232834"/>
          </a:xfrm>
          <a:custGeom>
            <a:avLst/>
            <a:gdLst/>
            <a:ahLst/>
            <a:cxnLst/>
            <a:rect r="r" b="b" t="t" l="l"/>
            <a:pathLst>
              <a:path h="2232834" w="2232834">
                <a:moveTo>
                  <a:pt x="0" y="0"/>
                </a:moveTo>
                <a:lnTo>
                  <a:pt x="2232834" y="0"/>
                </a:lnTo>
                <a:lnTo>
                  <a:pt x="2232834" y="2232834"/>
                </a:lnTo>
                <a:lnTo>
                  <a:pt x="0" y="223283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1792" y="2730038"/>
            <a:ext cx="8284464" cy="408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2"/>
              </a:lnSpc>
            </a:pPr>
            <a:r>
              <a:rPr lang="en-US" sz="230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end-to-end flow of the intelligent taxi route optimization system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8625" y="3429000"/>
            <a:ext cx="2190750" cy="3648075"/>
          </a:xfrm>
          <a:custGeom>
            <a:avLst/>
            <a:gdLst/>
            <a:ahLst/>
            <a:cxnLst/>
            <a:rect r="r" b="b" t="t" l="l"/>
            <a:pathLst>
              <a:path h="3648075" w="2190750">
                <a:moveTo>
                  <a:pt x="0" y="0"/>
                </a:moveTo>
                <a:lnTo>
                  <a:pt x="2190750" y="0"/>
                </a:lnTo>
                <a:lnTo>
                  <a:pt x="2190750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85850" y="3638550"/>
            <a:ext cx="1095375" cy="647700"/>
          </a:xfrm>
          <a:custGeom>
            <a:avLst/>
            <a:gdLst/>
            <a:ahLst/>
            <a:cxnLst/>
            <a:rect r="r" b="b" t="t" l="l"/>
            <a:pathLst>
              <a:path h="647700" w="1095375">
                <a:moveTo>
                  <a:pt x="0" y="0"/>
                </a:moveTo>
                <a:lnTo>
                  <a:pt x="1095375" y="0"/>
                </a:lnTo>
                <a:lnTo>
                  <a:pt x="10953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98448" y="4733273"/>
            <a:ext cx="585216" cy="381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9"/>
              </a:lnSpc>
            </a:pPr>
            <a:r>
              <a:rPr lang="en-US" sz="2213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User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2416" y="5732791"/>
            <a:ext cx="1133856" cy="559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182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trip request preferences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828925" y="3429000"/>
            <a:ext cx="2181225" cy="3648075"/>
          </a:xfrm>
          <a:custGeom>
            <a:avLst/>
            <a:gdLst/>
            <a:ahLst/>
            <a:cxnLst/>
            <a:rect r="r" b="b" t="t" l="l"/>
            <a:pathLst>
              <a:path h="3648075" w="2181225">
                <a:moveTo>
                  <a:pt x="0" y="0"/>
                </a:moveTo>
                <a:lnTo>
                  <a:pt x="2181225" y="0"/>
                </a:lnTo>
                <a:lnTo>
                  <a:pt x="2181225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257550" y="3638550"/>
            <a:ext cx="1314450" cy="647700"/>
          </a:xfrm>
          <a:custGeom>
            <a:avLst/>
            <a:gdLst/>
            <a:ahLst/>
            <a:cxnLst/>
            <a:rect r="r" b="b" t="t" l="l"/>
            <a:pathLst>
              <a:path h="647700" w="1314450">
                <a:moveTo>
                  <a:pt x="0" y="0"/>
                </a:moveTo>
                <a:lnTo>
                  <a:pt x="1314450" y="0"/>
                </a:lnTo>
                <a:lnTo>
                  <a:pt x="13144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255264" y="4750799"/>
            <a:ext cx="1389888" cy="661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2"/>
              </a:lnSpc>
            </a:pPr>
            <a:r>
              <a:rPr lang="en-US" sz="2245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Next.js + TypeScript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328416" y="5732657"/>
            <a:ext cx="1261872" cy="550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6"/>
              </a:lnSpc>
            </a:pPr>
            <a:r>
              <a:rPr lang="en-US" sz="178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web interface visualization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5219700" y="3429000"/>
            <a:ext cx="2190750" cy="3648075"/>
          </a:xfrm>
          <a:custGeom>
            <a:avLst/>
            <a:gdLst/>
            <a:ahLst/>
            <a:cxnLst/>
            <a:rect r="r" b="b" t="t" l="l"/>
            <a:pathLst>
              <a:path h="3648075" w="2190750">
                <a:moveTo>
                  <a:pt x="0" y="0"/>
                </a:moveTo>
                <a:lnTo>
                  <a:pt x="2190750" y="0"/>
                </a:lnTo>
                <a:lnTo>
                  <a:pt x="2190750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657850" y="3638550"/>
            <a:ext cx="1314450" cy="647700"/>
          </a:xfrm>
          <a:custGeom>
            <a:avLst/>
            <a:gdLst/>
            <a:ahLst/>
            <a:cxnLst/>
            <a:rect r="r" b="b" t="t" l="l"/>
            <a:pathLst>
              <a:path h="647700" w="1314450">
                <a:moveTo>
                  <a:pt x="0" y="0"/>
                </a:moveTo>
                <a:lnTo>
                  <a:pt x="1314450" y="0"/>
                </a:lnTo>
                <a:lnTo>
                  <a:pt x="13144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815584" y="4770552"/>
            <a:ext cx="1097280" cy="612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7"/>
              </a:lnSpc>
            </a:pPr>
            <a:r>
              <a:rPr lang="en-US" sz="2023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FastAPI REST API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596128" y="5732590"/>
            <a:ext cx="1536192" cy="550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176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request handling data exchange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7620000" y="3429000"/>
            <a:ext cx="2619375" cy="3648075"/>
          </a:xfrm>
          <a:custGeom>
            <a:avLst/>
            <a:gdLst/>
            <a:ahLst/>
            <a:cxnLst/>
            <a:rect r="r" b="b" t="t" l="l"/>
            <a:pathLst>
              <a:path h="3648075" w="2619375">
                <a:moveTo>
                  <a:pt x="0" y="0"/>
                </a:moveTo>
                <a:lnTo>
                  <a:pt x="2619375" y="0"/>
                </a:lnTo>
                <a:lnTo>
                  <a:pt x="2619375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936992" y="3794058"/>
            <a:ext cx="2048256" cy="232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6"/>
              </a:lnSpc>
            </a:pPr>
            <a:r>
              <a:rPr lang="en-US" b="true" sz="1354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ROUTING &amp; OPTIMIZATION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485632" y="4521586"/>
            <a:ext cx="950976" cy="1145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10"/>
              </a:lnSpc>
            </a:pPr>
            <a:r>
              <a:rPr lang="en-US" sz="215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Dijkstra</a:t>
            </a:r>
          </a:p>
          <a:p>
            <a:pPr algn="ctr">
              <a:lnSpc>
                <a:spcPts val="3010"/>
              </a:lnSpc>
            </a:pPr>
            <a:r>
              <a:rPr lang="en-US" sz="215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A*</a:t>
            </a:r>
          </a:p>
          <a:p>
            <a:pPr algn="ctr">
              <a:lnSpc>
                <a:spcPts val="3010"/>
              </a:lnSpc>
            </a:pPr>
            <a:r>
              <a:rPr lang="en-US" sz="215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DQN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266176" y="5873658"/>
            <a:ext cx="1426464" cy="555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8"/>
              </a:lnSpc>
            </a:pPr>
            <a:r>
              <a:rPr lang="en-US" sz="192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dynamic state interactions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0448925" y="3429000"/>
            <a:ext cx="2400300" cy="3648075"/>
          </a:xfrm>
          <a:custGeom>
            <a:avLst/>
            <a:gdLst/>
            <a:ahLst/>
            <a:cxnLst/>
            <a:rect r="r" b="b" t="t" l="l"/>
            <a:pathLst>
              <a:path h="3648075" w="2400300">
                <a:moveTo>
                  <a:pt x="0" y="0"/>
                </a:moveTo>
                <a:lnTo>
                  <a:pt x="2400300" y="0"/>
                </a:lnTo>
                <a:lnTo>
                  <a:pt x="2400300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877550" y="3638550"/>
            <a:ext cx="1533525" cy="647700"/>
          </a:xfrm>
          <a:custGeom>
            <a:avLst/>
            <a:gdLst/>
            <a:ahLst/>
            <a:cxnLst/>
            <a:rect r="r" b="b" t="t" l="l"/>
            <a:pathLst>
              <a:path h="647700" w="1533525">
                <a:moveTo>
                  <a:pt x="0" y="0"/>
                </a:moveTo>
                <a:lnTo>
                  <a:pt x="1533525" y="0"/>
                </a:lnTo>
                <a:lnTo>
                  <a:pt x="15335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625328" y="4789803"/>
            <a:ext cx="1938528" cy="58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4"/>
              </a:lnSpc>
            </a:pPr>
            <a:r>
              <a:rPr lang="en-US" sz="196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Taxi Environment Road Network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789920" y="5779411"/>
            <a:ext cx="1261872" cy="466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3"/>
              </a:lnSpc>
            </a:pPr>
            <a:r>
              <a:rPr lang="en-US" sz="150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route planning decision making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2839700" y="3429000"/>
            <a:ext cx="2619375" cy="3648075"/>
          </a:xfrm>
          <a:custGeom>
            <a:avLst/>
            <a:gdLst/>
            <a:ahLst/>
            <a:cxnLst/>
            <a:rect r="r" b="b" t="t" l="l"/>
            <a:pathLst>
              <a:path h="3648075" w="2619375">
                <a:moveTo>
                  <a:pt x="0" y="0"/>
                </a:moveTo>
                <a:lnTo>
                  <a:pt x="2619375" y="0"/>
                </a:lnTo>
                <a:lnTo>
                  <a:pt x="2619375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3203936" y="4809155"/>
            <a:ext cx="1938528" cy="545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5"/>
              </a:lnSpc>
            </a:pPr>
            <a:r>
              <a:rPr lang="en-US" sz="1865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Traffic Simulation Route Metrics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185648" y="5760696"/>
            <a:ext cx="1993392" cy="49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5"/>
              </a:lnSpc>
            </a:pPr>
            <a:r>
              <a:rPr lang="en-US" sz="161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performance evaluation feedback loop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5668625" y="3429000"/>
            <a:ext cx="1971675" cy="3648075"/>
          </a:xfrm>
          <a:custGeom>
            <a:avLst/>
            <a:gdLst/>
            <a:ahLst/>
            <a:cxnLst/>
            <a:rect r="r" b="b" t="t" l="l"/>
            <a:pathLst>
              <a:path h="3648075" w="1971675">
                <a:moveTo>
                  <a:pt x="0" y="0"/>
                </a:moveTo>
                <a:lnTo>
                  <a:pt x="1971675" y="0"/>
                </a:lnTo>
                <a:lnTo>
                  <a:pt x="1971675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6106775" y="3638550"/>
            <a:ext cx="1095375" cy="647700"/>
          </a:xfrm>
          <a:custGeom>
            <a:avLst/>
            <a:gdLst/>
            <a:ahLst/>
            <a:cxnLst/>
            <a:rect r="r" b="b" t="t" l="l"/>
            <a:pathLst>
              <a:path h="647700" w="1095375">
                <a:moveTo>
                  <a:pt x="0" y="0"/>
                </a:moveTo>
                <a:lnTo>
                  <a:pt x="1095375" y="0"/>
                </a:lnTo>
                <a:lnTo>
                  <a:pt x="10953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6038576" y="4789502"/>
            <a:ext cx="1280160" cy="59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3"/>
              </a:lnSpc>
            </a:pPr>
            <a:r>
              <a:rPr lang="en-US" sz="2055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Results Dashboard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111728" y="5751305"/>
            <a:ext cx="1170432" cy="51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8"/>
              </a:lnSpc>
            </a:pPr>
            <a:r>
              <a:rPr lang="en-US" sz="165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insights visual reports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2390775" y="492442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4781550" y="4924425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7181850" y="492442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0010775" y="492442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2620625" y="4924425"/>
            <a:ext cx="447675" cy="647700"/>
          </a:xfrm>
          <a:custGeom>
            <a:avLst/>
            <a:gdLst/>
            <a:ahLst/>
            <a:cxnLst/>
            <a:rect r="r" b="b" t="t" l="l"/>
            <a:pathLst>
              <a:path h="647700" w="447675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5240000" y="4924425"/>
            <a:ext cx="438150" cy="647700"/>
          </a:xfrm>
          <a:custGeom>
            <a:avLst/>
            <a:gdLst/>
            <a:ahLst/>
            <a:cxnLst/>
            <a:rect r="r" b="b" t="t" l="l"/>
            <a:pathLst>
              <a:path h="647700" w="43815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621792" y="7268117"/>
            <a:ext cx="2670048" cy="373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1"/>
              </a:lnSpc>
            </a:pPr>
            <a:r>
              <a:rPr lang="en-US" sz="2172" b="true">
                <a:solidFill>
                  <a:srgbClr val="00A1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TECHNOLOGY STACK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428625" y="7496175"/>
            <a:ext cx="17211675" cy="2362200"/>
          </a:xfrm>
          <a:custGeom>
            <a:avLst/>
            <a:gdLst/>
            <a:ahLst/>
            <a:cxnLst/>
            <a:rect r="r" b="b" t="t" l="l"/>
            <a:pathLst>
              <a:path h="2362200" w="17211675">
                <a:moveTo>
                  <a:pt x="0" y="0"/>
                </a:moveTo>
                <a:lnTo>
                  <a:pt x="17211675" y="0"/>
                </a:lnTo>
                <a:lnTo>
                  <a:pt x="1721167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627632" y="8003625"/>
            <a:ext cx="2212848" cy="634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3"/>
              </a:lnSpc>
            </a:pPr>
            <a:r>
              <a:rPr lang="en-US" sz="2463" b="true">
                <a:solidFill>
                  <a:srgbClr val="00A1FF"/>
                </a:solidFill>
                <a:latin typeface="Roboto Bold"/>
                <a:ea typeface="Roboto Bold"/>
                <a:cs typeface="Roboto Bold"/>
                <a:sym typeface="Roboto Bold"/>
              </a:rPr>
              <a:t>OpenStreetMap</a:t>
            </a:r>
          </a:p>
          <a:p>
            <a:pPr algn="ctr">
              <a:lnSpc>
                <a:spcPts val="2463"/>
              </a:lnSpc>
            </a:pPr>
            <a:r>
              <a:rPr lang="en-US" sz="2463" b="true">
                <a:solidFill>
                  <a:srgbClr val="00A1FF"/>
                </a:solidFill>
                <a:latin typeface="Roboto Bold"/>
                <a:ea typeface="Roboto Bold"/>
                <a:cs typeface="Roboto Bold"/>
                <a:sym typeface="Roboto Bold"/>
              </a:rPr>
              <a:t>+ Leaflet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029968" y="8865168"/>
            <a:ext cx="1353312" cy="579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9"/>
              </a:lnSpc>
            </a:pPr>
            <a:r>
              <a:rPr lang="en-US" sz="209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maps &amp; visualization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4572000" y="7715250"/>
            <a:ext cx="219075" cy="1933575"/>
          </a:xfrm>
          <a:custGeom>
            <a:avLst/>
            <a:gdLst/>
            <a:ahLst/>
            <a:cxnLst/>
            <a:rect r="r" b="b" t="t" l="l"/>
            <a:pathLst>
              <a:path h="1933575" w="219075">
                <a:moveTo>
                  <a:pt x="0" y="0"/>
                </a:moveTo>
                <a:lnTo>
                  <a:pt x="219075" y="0"/>
                </a:lnTo>
                <a:lnTo>
                  <a:pt x="2190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5998464" y="8004965"/>
            <a:ext cx="1572768" cy="621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7"/>
              </a:lnSpc>
            </a:pPr>
            <a:r>
              <a:rPr lang="en-US" sz="2357" b="true">
                <a:solidFill>
                  <a:srgbClr val="00A1FF"/>
                </a:solidFill>
                <a:latin typeface="Roboto Bold"/>
                <a:ea typeface="Roboto Bold"/>
                <a:cs typeface="Roboto Bold"/>
                <a:sym typeface="Roboto Bold"/>
              </a:rPr>
              <a:t>Python</a:t>
            </a:r>
          </a:p>
          <a:p>
            <a:pPr algn="ctr">
              <a:lnSpc>
                <a:spcPts val="2357"/>
              </a:lnSpc>
            </a:pPr>
            <a:r>
              <a:rPr lang="en-US" sz="2357" b="true">
                <a:solidFill>
                  <a:srgbClr val="00A1FF"/>
                </a:solidFill>
                <a:latin typeface="Roboto Bold"/>
                <a:ea typeface="Roboto Bold"/>
                <a:cs typeface="Roboto Bold"/>
                <a:sym typeface="Roboto Bold"/>
              </a:rPr>
              <a:t>+ NetworkX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21792" y="758487"/>
            <a:ext cx="7516368" cy="2043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1"/>
              </a:lnSpc>
            </a:pPr>
            <a:r>
              <a:rPr lang="en-US" sz="8624" b="true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SYSTEM </a:t>
            </a:r>
            <a:r>
              <a:rPr lang="en-US" sz="8624" b="true">
                <a:solidFill>
                  <a:srgbClr val="00A1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ARCHITECTURE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89888" y="3794474"/>
            <a:ext cx="420624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2"/>
              </a:lnSpc>
            </a:pPr>
            <a:r>
              <a:rPr lang="en-US" b="true" sz="1387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USER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493008" y="3790128"/>
            <a:ext cx="877824" cy="240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8"/>
              </a:lnSpc>
            </a:pPr>
            <a:r>
              <a:rPr lang="en-US" b="true" sz="1420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FRONTEND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925312" y="3795724"/>
            <a:ext cx="877824" cy="238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b="true" sz="1485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API LAYER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991088" y="3790128"/>
            <a:ext cx="1188720" cy="240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8"/>
              </a:lnSpc>
            </a:pPr>
            <a:r>
              <a:rPr lang="en-US" b="true" sz="1420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ENVIRONMENT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240512" y="3794058"/>
            <a:ext cx="1847088" cy="232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6"/>
              </a:lnSpc>
            </a:pPr>
            <a:r>
              <a:rPr lang="en-US" b="true" sz="1354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SIMULATION &amp; METRICS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6331184" y="3776258"/>
            <a:ext cx="658368" cy="258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4"/>
              </a:lnSpc>
            </a:pPr>
            <a:r>
              <a:rPr lang="en-US" b="true" sz="1453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OUTPUT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870448" y="8855285"/>
            <a:ext cx="1865376" cy="598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1"/>
              </a:lnSpc>
            </a:pPr>
            <a:r>
              <a:rPr lang="en-US" sz="214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graph modeling network analysis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747504" y="8014936"/>
            <a:ext cx="2670048" cy="601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2"/>
              </a:lnSpc>
            </a:pPr>
            <a:r>
              <a:rPr lang="en-US" sz="2322" b="true">
                <a:solidFill>
                  <a:srgbClr val="00A1FF"/>
                </a:solidFill>
                <a:latin typeface="Roboto Bold"/>
                <a:ea typeface="Roboto Bold"/>
                <a:cs typeface="Roboto Bold"/>
                <a:sym typeface="Roboto Bold"/>
              </a:rPr>
              <a:t>PyTorch</a:t>
            </a:r>
          </a:p>
          <a:p>
            <a:pPr algn="ctr">
              <a:lnSpc>
                <a:spcPts val="2322"/>
              </a:lnSpc>
            </a:pPr>
            <a:r>
              <a:rPr lang="en-US" sz="2322" b="true">
                <a:solidFill>
                  <a:srgbClr val="00A1FF"/>
                </a:solidFill>
                <a:latin typeface="Roboto Bold"/>
                <a:ea typeface="Roboto Bold"/>
                <a:cs typeface="Roboto Bold"/>
                <a:sym typeface="Roboto Bold"/>
              </a:rPr>
              <a:t>+ Stable-Baselines3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857232" y="8865168"/>
            <a:ext cx="2468880" cy="579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9"/>
              </a:lnSpc>
            </a:pPr>
            <a:r>
              <a:rPr lang="en-US" sz="209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deep learning reinforcement learning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4666976" y="8060978"/>
            <a:ext cx="1536192" cy="314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2"/>
              </a:lnSpc>
            </a:pPr>
            <a:r>
              <a:rPr lang="en-US" sz="2252" b="true">
                <a:solidFill>
                  <a:srgbClr val="00A1FF"/>
                </a:solidFill>
                <a:latin typeface="Roboto Bold"/>
                <a:ea typeface="Roboto Bold"/>
                <a:cs typeface="Roboto Bold"/>
                <a:sym typeface="Roboto Bold"/>
              </a:rPr>
              <a:t>Gymnasium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4666976" y="8834711"/>
            <a:ext cx="1536192" cy="598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1"/>
              </a:lnSpc>
            </a:pPr>
            <a:r>
              <a:rPr lang="en-US" sz="214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simulation environments</a:t>
            </a:r>
          </a:p>
        </p:txBody>
      </p:sp>
      <p:sp>
        <p:nvSpPr>
          <p:cNvPr name="Freeform 55" id="55"/>
          <p:cNvSpPr/>
          <p:nvPr/>
        </p:nvSpPr>
        <p:spPr>
          <a:xfrm flipH="false" flipV="false" rot="0">
            <a:off x="16202319" y="-32559"/>
            <a:ext cx="2232834" cy="2232834"/>
          </a:xfrm>
          <a:custGeom>
            <a:avLst/>
            <a:gdLst/>
            <a:ahLst/>
            <a:cxnLst/>
            <a:rect r="r" b="b" t="t" l="l"/>
            <a:pathLst>
              <a:path h="2232834" w="2232834">
                <a:moveTo>
                  <a:pt x="0" y="0"/>
                </a:moveTo>
                <a:lnTo>
                  <a:pt x="2232834" y="0"/>
                </a:lnTo>
                <a:lnTo>
                  <a:pt x="2232834" y="2232834"/>
                </a:lnTo>
                <a:lnTo>
                  <a:pt x="0" y="2232834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8640" y="963006"/>
            <a:ext cx="7680960" cy="1166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17"/>
              </a:lnSpc>
            </a:pPr>
            <a:r>
              <a:rPr lang="en-US" b="true" sz="8817" spc="-264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METHO</a:t>
            </a:r>
            <a:r>
              <a:rPr lang="en-US" b="true" sz="8817" spc="-264">
                <a:solidFill>
                  <a:srgbClr val="0079E7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DOLOGY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48640" y="2198305"/>
            <a:ext cx="7479792" cy="1471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0"/>
              </a:lnSpc>
            </a:pPr>
            <a:r>
              <a:rPr lang="en-US" sz="2814" spc="-84" b="true">
                <a:solidFill>
                  <a:srgbClr val="FFFFFF"/>
                </a:solidFill>
                <a:latin typeface="IBM Plex Sans Condensed Medium"/>
                <a:ea typeface="IBM Plex Sans Condensed Medium"/>
                <a:cs typeface="IBM Plex Sans Condensed Medium"/>
                <a:sym typeface="IBM Plex Sans Condensed Medium"/>
              </a:rPr>
              <a:t>A stepwise framework that integrates classical routing algorithms with deep reinforcement learning to recommend </a:t>
            </a:r>
            <a:r>
              <a:rPr lang="en-US" sz="2814" spc="-84" b="true">
                <a:solidFill>
                  <a:srgbClr val="0079E7"/>
                </a:solidFill>
                <a:latin typeface="IBM Plex Sans Condensed Medium"/>
                <a:ea typeface="IBM Plex Sans Condensed Medium"/>
                <a:cs typeface="IBM Plex Sans Condensed Medium"/>
                <a:sym typeface="IBM Plex Sans Condensed Medium"/>
              </a:rPr>
              <a:t>optimal taxi routes.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8625" y="4286250"/>
            <a:ext cx="2190750" cy="4933950"/>
          </a:xfrm>
          <a:custGeom>
            <a:avLst/>
            <a:gdLst/>
            <a:ahLst/>
            <a:cxnLst/>
            <a:rect r="r" b="b" t="t" l="l"/>
            <a:pathLst>
              <a:path h="4933950" w="2190750">
                <a:moveTo>
                  <a:pt x="0" y="0"/>
                </a:moveTo>
                <a:lnTo>
                  <a:pt x="2190750" y="0"/>
                </a:lnTo>
                <a:lnTo>
                  <a:pt x="2190750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85850" y="4067175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53312" y="4165747"/>
            <a:ext cx="182880" cy="61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7"/>
              </a:lnSpc>
            </a:pPr>
            <a:r>
              <a:rPr lang="en-US" b="true" sz="3576" spc="-107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4944" y="5093565"/>
            <a:ext cx="1572768" cy="709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b="true" sz="2053" spc="-61">
                <a:solidFill>
                  <a:srgbClr val="FFFFFF"/>
                </a:solidFill>
                <a:latin typeface="IBM Plex Sans Condensed Medium"/>
                <a:ea typeface="IBM Plex Sans Condensed Medium"/>
                <a:cs typeface="IBM Plex Sans Condensed Medium"/>
                <a:sym typeface="IBM Plex Sans Condensed Medium"/>
              </a:rPr>
              <a:t>Input pickup and destination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47700" y="6210300"/>
            <a:ext cx="1533525" cy="2581275"/>
          </a:xfrm>
          <a:custGeom>
            <a:avLst/>
            <a:gdLst/>
            <a:ahLst/>
            <a:cxnLst/>
            <a:rect r="r" b="b" t="t" l="l"/>
            <a:pathLst>
              <a:path h="2581275" w="1533525">
                <a:moveTo>
                  <a:pt x="0" y="0"/>
                </a:moveTo>
                <a:lnTo>
                  <a:pt x="1533525" y="0"/>
                </a:lnTo>
                <a:lnTo>
                  <a:pt x="1533525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609850" y="4286250"/>
            <a:ext cx="2181225" cy="4933950"/>
          </a:xfrm>
          <a:custGeom>
            <a:avLst/>
            <a:gdLst/>
            <a:ahLst/>
            <a:cxnLst/>
            <a:rect r="r" b="b" t="t" l="l"/>
            <a:pathLst>
              <a:path h="4933950" w="2181225">
                <a:moveTo>
                  <a:pt x="0" y="0"/>
                </a:moveTo>
                <a:lnTo>
                  <a:pt x="2181225" y="0"/>
                </a:lnTo>
                <a:lnTo>
                  <a:pt x="2181225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257550" y="4067175"/>
            <a:ext cx="885825" cy="866775"/>
          </a:xfrm>
          <a:custGeom>
            <a:avLst/>
            <a:gdLst/>
            <a:ahLst/>
            <a:cxnLst/>
            <a:rect r="r" b="b" t="t" l="l"/>
            <a:pathLst>
              <a:path h="866775" w="885825">
                <a:moveTo>
                  <a:pt x="0" y="0"/>
                </a:moveTo>
                <a:lnTo>
                  <a:pt x="885825" y="0"/>
                </a:lnTo>
                <a:lnTo>
                  <a:pt x="8858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072384" y="5121063"/>
            <a:ext cx="1188720" cy="992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9"/>
              </a:lnSpc>
            </a:pPr>
            <a:r>
              <a:rPr lang="en-US" b="true" sz="2076" spc="-62">
                <a:solidFill>
                  <a:srgbClr val="FFFFFF"/>
                </a:solidFill>
                <a:latin typeface="IBM Plex Sans Condensed Medium"/>
                <a:ea typeface="IBM Plex Sans Condensed Medium"/>
                <a:cs typeface="IBM Plex Sans Condensed Medium"/>
                <a:sym typeface="IBM Plex Sans Condensed Medium"/>
              </a:rPr>
              <a:t>Construct / load road network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2828925" y="6429375"/>
            <a:ext cx="1743075" cy="2362200"/>
          </a:xfrm>
          <a:custGeom>
            <a:avLst/>
            <a:gdLst/>
            <a:ahLst/>
            <a:cxnLst/>
            <a:rect r="r" b="b" t="t" l="l"/>
            <a:pathLst>
              <a:path h="2362200" w="1743075">
                <a:moveTo>
                  <a:pt x="0" y="0"/>
                </a:moveTo>
                <a:lnTo>
                  <a:pt x="1743075" y="0"/>
                </a:lnTo>
                <a:lnTo>
                  <a:pt x="174307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781550" y="4286250"/>
            <a:ext cx="2190750" cy="4933950"/>
          </a:xfrm>
          <a:custGeom>
            <a:avLst/>
            <a:gdLst/>
            <a:ahLst/>
            <a:cxnLst/>
            <a:rect r="r" b="b" t="t" l="l"/>
            <a:pathLst>
              <a:path h="4933950" w="2190750">
                <a:moveTo>
                  <a:pt x="0" y="0"/>
                </a:moveTo>
                <a:lnTo>
                  <a:pt x="2190750" y="0"/>
                </a:lnTo>
                <a:lnTo>
                  <a:pt x="2190750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438775" y="4067175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705856" y="4165747"/>
            <a:ext cx="256032" cy="61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7"/>
              </a:lnSpc>
            </a:pPr>
            <a:r>
              <a:rPr lang="en-US" b="true" sz="3576" spc="-107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248656" y="5084338"/>
            <a:ext cx="1298448" cy="71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7"/>
              </a:lnSpc>
            </a:pPr>
            <a:r>
              <a:rPr lang="en-US" b="true" sz="2076" spc="-62">
                <a:solidFill>
                  <a:srgbClr val="FFFFFF"/>
                </a:solidFill>
                <a:latin typeface="IBM Plex Sans Condensed Medium"/>
                <a:ea typeface="IBM Plex Sans Condensed Medium"/>
                <a:cs typeface="IBM Plex Sans Condensed Medium"/>
                <a:sym typeface="IBM Plex Sans Condensed Medium"/>
              </a:rPr>
              <a:t>Apply traffic conditions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4781550" y="6210300"/>
            <a:ext cx="2190750" cy="3009900"/>
          </a:xfrm>
          <a:custGeom>
            <a:avLst/>
            <a:gdLst/>
            <a:ahLst/>
            <a:cxnLst/>
            <a:rect r="r" b="b" t="t" l="l"/>
            <a:pathLst>
              <a:path h="3009900" w="2190750">
                <a:moveTo>
                  <a:pt x="0" y="0"/>
                </a:moveTo>
                <a:lnTo>
                  <a:pt x="2190750" y="0"/>
                </a:lnTo>
                <a:lnTo>
                  <a:pt x="2190750" y="3009900"/>
                </a:lnTo>
                <a:lnTo>
                  <a:pt x="0" y="30099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962775" y="4286250"/>
            <a:ext cx="2181225" cy="4933950"/>
          </a:xfrm>
          <a:custGeom>
            <a:avLst/>
            <a:gdLst/>
            <a:ahLst/>
            <a:cxnLst/>
            <a:rect r="r" b="b" t="t" l="l"/>
            <a:pathLst>
              <a:path h="4933950" w="2181225">
                <a:moveTo>
                  <a:pt x="0" y="0"/>
                </a:moveTo>
                <a:lnTo>
                  <a:pt x="2181225" y="0"/>
                </a:lnTo>
                <a:lnTo>
                  <a:pt x="2181225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620000" y="4067175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7278624" y="5121063"/>
            <a:ext cx="1572768" cy="992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9"/>
              </a:lnSpc>
            </a:pPr>
            <a:r>
              <a:rPr lang="en-US" b="true" sz="2076" spc="-62">
                <a:solidFill>
                  <a:srgbClr val="FFFFFF"/>
                </a:solidFill>
                <a:latin typeface="IBM Plex Sans Condensed Medium"/>
                <a:ea typeface="IBM Plex Sans Condensed Medium"/>
                <a:cs typeface="IBM Plex Sans Condensed Medium"/>
                <a:sym typeface="IBM Plex Sans Condensed Medium"/>
              </a:rPr>
              <a:t>Calculate route using classical algorithms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9144000" y="4286250"/>
            <a:ext cx="2400300" cy="4933950"/>
          </a:xfrm>
          <a:custGeom>
            <a:avLst/>
            <a:gdLst/>
            <a:ahLst/>
            <a:cxnLst/>
            <a:rect r="r" b="b" t="t" l="l"/>
            <a:pathLst>
              <a:path h="4933950" w="2400300">
                <a:moveTo>
                  <a:pt x="0" y="0"/>
                </a:moveTo>
                <a:lnTo>
                  <a:pt x="2400300" y="0"/>
                </a:lnTo>
                <a:lnTo>
                  <a:pt x="2400300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9791700" y="4067175"/>
            <a:ext cx="1095375" cy="866775"/>
          </a:xfrm>
          <a:custGeom>
            <a:avLst/>
            <a:gdLst/>
            <a:ahLst/>
            <a:cxnLst/>
            <a:rect r="r" b="b" t="t" l="l"/>
            <a:pathLst>
              <a:path h="866775" w="1095375">
                <a:moveTo>
                  <a:pt x="0" y="0"/>
                </a:moveTo>
                <a:lnTo>
                  <a:pt x="1095375" y="0"/>
                </a:lnTo>
                <a:lnTo>
                  <a:pt x="109537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509760" y="5121063"/>
            <a:ext cx="1682496" cy="992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9"/>
              </a:lnSpc>
            </a:pPr>
            <a:r>
              <a:rPr lang="en-US" b="true" sz="2076" spc="-62">
                <a:solidFill>
                  <a:srgbClr val="FFFFFF"/>
                </a:solidFill>
                <a:latin typeface="IBM Plex Sans Condensed Medium"/>
                <a:ea typeface="IBM Plex Sans Condensed Medium"/>
                <a:cs typeface="IBM Plex Sans Condensed Medium"/>
                <a:sym typeface="IBM Plex Sans Condensed Medium"/>
              </a:rPr>
              <a:t>Let DQN interact with taxi environment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9144000" y="6210300"/>
            <a:ext cx="2400300" cy="3009900"/>
          </a:xfrm>
          <a:custGeom>
            <a:avLst/>
            <a:gdLst/>
            <a:ahLst/>
            <a:cxnLst/>
            <a:rect r="r" b="b" t="t" l="l"/>
            <a:pathLst>
              <a:path h="3009900" w="2400300">
                <a:moveTo>
                  <a:pt x="0" y="0"/>
                </a:moveTo>
                <a:lnTo>
                  <a:pt x="2400300" y="0"/>
                </a:lnTo>
                <a:lnTo>
                  <a:pt x="2400300" y="3009900"/>
                </a:lnTo>
                <a:lnTo>
                  <a:pt x="0" y="30099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1534775" y="4286250"/>
            <a:ext cx="2181225" cy="4933950"/>
          </a:xfrm>
          <a:custGeom>
            <a:avLst/>
            <a:gdLst/>
            <a:ahLst/>
            <a:cxnLst/>
            <a:rect r="r" b="b" t="t" l="l"/>
            <a:pathLst>
              <a:path h="4933950" w="2181225">
                <a:moveTo>
                  <a:pt x="0" y="0"/>
                </a:moveTo>
                <a:lnTo>
                  <a:pt x="2181225" y="0"/>
                </a:lnTo>
                <a:lnTo>
                  <a:pt x="2181225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2192000" y="4067175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1740896" y="5120914"/>
            <a:ext cx="1627632" cy="99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9"/>
              </a:lnSpc>
            </a:pPr>
            <a:r>
              <a:rPr lang="en-US" b="true" sz="2053" spc="-61">
                <a:solidFill>
                  <a:srgbClr val="FFFFFF"/>
                </a:solidFill>
                <a:latin typeface="IBM Plex Sans Condensed Medium"/>
                <a:ea typeface="IBM Plex Sans Condensed Medium"/>
                <a:cs typeface="IBM Plex Sans Condensed Medium"/>
                <a:sym typeface="IBM Plex Sans Condensed Medium"/>
              </a:rPr>
              <a:t>Calculate distance, ETA, operational cost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832336" y="7375764"/>
            <a:ext cx="1444752" cy="1247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2"/>
              </a:lnSpc>
            </a:pPr>
            <a:r>
              <a:rPr lang="en-US" b="true" sz="2498" spc="-74">
                <a:solidFill>
                  <a:srgbClr val="0079E7"/>
                </a:solidFill>
                <a:latin typeface="IBM Plex Sans Condensed Medium"/>
                <a:ea typeface="IBM Plex Sans Condensed Medium"/>
                <a:cs typeface="IBM Plex Sans Condensed Medium"/>
                <a:sym typeface="IBM Plex Sans Condensed Medium"/>
              </a:rPr>
              <a:t>ETA Operational Cost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1096625" y="6638925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3716000" y="4286250"/>
            <a:ext cx="2181225" cy="4933950"/>
          </a:xfrm>
          <a:custGeom>
            <a:avLst/>
            <a:gdLst/>
            <a:ahLst/>
            <a:cxnLst/>
            <a:rect r="r" b="b" t="t" l="l"/>
            <a:pathLst>
              <a:path h="4933950" w="2181225">
                <a:moveTo>
                  <a:pt x="0" y="0"/>
                </a:moveTo>
                <a:lnTo>
                  <a:pt x="2181225" y="0"/>
                </a:lnTo>
                <a:lnTo>
                  <a:pt x="2181225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4363700" y="4067175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4209776" y="5121063"/>
            <a:ext cx="1097280" cy="992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9"/>
              </a:lnSpc>
            </a:pPr>
            <a:r>
              <a:rPr lang="en-US" b="true" sz="2076" spc="-62">
                <a:solidFill>
                  <a:srgbClr val="FFFFFF"/>
                </a:solidFill>
                <a:latin typeface="IBM Plex Sans Condensed Medium"/>
                <a:ea typeface="IBM Plex Sans Condensed Medium"/>
                <a:cs typeface="IBM Plex Sans Condensed Medium"/>
                <a:sym typeface="IBM Plex Sans Condensed Medium"/>
              </a:rPr>
              <a:t>Compare algorithm results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13925550" y="6858000"/>
            <a:ext cx="1752600" cy="1714500"/>
          </a:xfrm>
          <a:custGeom>
            <a:avLst/>
            <a:gdLst/>
            <a:ahLst/>
            <a:cxnLst/>
            <a:rect r="r" b="b" t="t" l="l"/>
            <a:pathLst>
              <a:path h="1714500" w="1752600">
                <a:moveTo>
                  <a:pt x="0" y="0"/>
                </a:moveTo>
                <a:lnTo>
                  <a:pt x="1752600" y="0"/>
                </a:lnTo>
                <a:lnTo>
                  <a:pt x="175260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3277850" y="663892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5887700" y="4286250"/>
            <a:ext cx="1971675" cy="4933950"/>
          </a:xfrm>
          <a:custGeom>
            <a:avLst/>
            <a:gdLst/>
            <a:ahLst/>
            <a:cxnLst/>
            <a:rect r="r" b="b" t="t" l="l"/>
            <a:pathLst>
              <a:path h="4933950" w="1971675">
                <a:moveTo>
                  <a:pt x="0" y="0"/>
                </a:moveTo>
                <a:lnTo>
                  <a:pt x="1971675" y="0"/>
                </a:lnTo>
                <a:lnTo>
                  <a:pt x="1971675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6325850" y="4067175"/>
            <a:ext cx="1095375" cy="866775"/>
          </a:xfrm>
          <a:custGeom>
            <a:avLst/>
            <a:gdLst/>
            <a:ahLst/>
            <a:cxnLst/>
            <a:rect r="r" b="b" t="t" l="l"/>
            <a:pathLst>
              <a:path h="866775" w="1095375">
                <a:moveTo>
                  <a:pt x="0" y="0"/>
                </a:moveTo>
                <a:lnTo>
                  <a:pt x="1095375" y="0"/>
                </a:lnTo>
                <a:lnTo>
                  <a:pt x="109537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6770096" y="4165747"/>
            <a:ext cx="256032" cy="61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7"/>
              </a:lnSpc>
            </a:pPr>
            <a:r>
              <a:rPr lang="en-US" b="true" sz="3576" spc="-107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8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038576" y="5124575"/>
            <a:ext cx="1627632" cy="1336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"/>
              </a:lnSpc>
            </a:pPr>
            <a:r>
              <a:rPr lang="en-US" b="true" sz="2029" spc="-60">
                <a:solidFill>
                  <a:srgbClr val="FFFFFF"/>
                </a:solidFill>
                <a:latin typeface="IBM Plex Sans Condensed Medium"/>
                <a:ea typeface="IBM Plex Sans Condensed Medium"/>
                <a:cs typeface="IBM Plex Sans Condensed Medium"/>
                <a:sym typeface="IBM Plex Sans Condensed Medium"/>
              </a:rPr>
              <a:t>Recommend algorithm based on optimization objective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221456" y="7383540"/>
            <a:ext cx="1335024" cy="84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0"/>
              </a:lnSpc>
            </a:pPr>
            <a:r>
              <a:rPr lang="en-US" b="true" sz="2744" spc="-82">
                <a:solidFill>
                  <a:srgbClr val="0079E7"/>
                </a:solidFill>
                <a:latin typeface="IBM Plex Sans Condensed Medium"/>
                <a:ea typeface="IBM Plex Sans Condensed Medium"/>
                <a:cs typeface="IBM Plex Sans Condensed Medium"/>
                <a:sym typeface="IBM Plex Sans Condensed Medium"/>
              </a:rPr>
              <a:t>Best Algorithm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15449550" y="6638925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2171700" y="6638925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4572000" y="6638925"/>
            <a:ext cx="438150" cy="647700"/>
          </a:xfrm>
          <a:custGeom>
            <a:avLst/>
            <a:gdLst/>
            <a:ahLst/>
            <a:cxnLst/>
            <a:rect r="r" b="b" t="t" l="l"/>
            <a:pathLst>
              <a:path h="647700" w="43815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6743700" y="6638925"/>
            <a:ext cx="447675" cy="647700"/>
          </a:xfrm>
          <a:custGeom>
            <a:avLst/>
            <a:gdLst/>
            <a:ahLst/>
            <a:cxnLst/>
            <a:rect r="r" b="b" t="t" l="l"/>
            <a:pathLst>
              <a:path h="647700" w="447675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7589520" y="6782732"/>
            <a:ext cx="1005840" cy="438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0"/>
              </a:lnSpc>
            </a:pPr>
            <a:r>
              <a:rPr lang="en-US" b="true" sz="2593" spc="-77">
                <a:solidFill>
                  <a:srgbClr val="FFFFFF"/>
                </a:solidFill>
                <a:latin typeface="IBM Plex Sans Condensed Medium"/>
                <a:ea typeface="IBM Plex Sans Condensed Medium"/>
                <a:cs typeface="IBM Plex Sans Condensed Medium"/>
                <a:sym typeface="IBM Plex Sans Condensed Medium"/>
              </a:rPr>
              <a:t>Dijkstra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900416" y="7413837"/>
            <a:ext cx="365760" cy="420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6"/>
              </a:lnSpc>
            </a:pPr>
            <a:r>
              <a:rPr lang="en-US" b="true" sz="2561" spc="-76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A*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529584" y="4165747"/>
            <a:ext cx="256032" cy="61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7"/>
              </a:lnSpc>
            </a:pPr>
            <a:r>
              <a:rPr lang="en-US" b="true" sz="3576" spc="-107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2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955280" y="4165747"/>
            <a:ext cx="256032" cy="61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7"/>
              </a:lnSpc>
            </a:pPr>
            <a:r>
              <a:rPr lang="en-US" b="true" sz="3576" spc="-107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4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222992" y="4165747"/>
            <a:ext cx="256032" cy="61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7"/>
              </a:lnSpc>
            </a:pPr>
            <a:r>
              <a:rPr lang="en-US" b="true" sz="3576" spc="-107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5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472416" y="4165747"/>
            <a:ext cx="256032" cy="61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7"/>
              </a:lnSpc>
            </a:pPr>
            <a:r>
              <a:rPr lang="en-US" b="true" sz="3576" spc="-107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6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4630400" y="4165747"/>
            <a:ext cx="256032" cy="61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7"/>
              </a:lnSpc>
            </a:pPr>
            <a:r>
              <a:rPr lang="en-US" b="true" sz="3576" spc="-107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7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015216" y="6791051"/>
            <a:ext cx="1078992" cy="422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7"/>
              </a:lnSpc>
            </a:pPr>
            <a:r>
              <a:rPr lang="en-US" b="true" sz="2498" spc="-74">
                <a:solidFill>
                  <a:srgbClr val="0079E7"/>
                </a:solidFill>
                <a:latin typeface="IBM Plex Sans Condensed Medium"/>
                <a:ea typeface="IBM Plex Sans Condensed Medium"/>
                <a:cs typeface="IBM Plex Sans Condensed Medium"/>
                <a:sym typeface="IBM Plex Sans Condensed Medium"/>
              </a:rPr>
              <a:t>Distance</a:t>
            </a:r>
          </a:p>
        </p:txBody>
      </p:sp>
      <p:sp>
        <p:nvSpPr>
          <p:cNvPr name="Freeform 53" id="53"/>
          <p:cNvSpPr/>
          <p:nvPr/>
        </p:nvSpPr>
        <p:spPr>
          <a:xfrm flipH="false" flipV="false" rot="0">
            <a:off x="16202319" y="-32559"/>
            <a:ext cx="2232834" cy="2232834"/>
          </a:xfrm>
          <a:custGeom>
            <a:avLst/>
            <a:gdLst/>
            <a:ahLst/>
            <a:cxnLst/>
            <a:rect r="r" b="b" t="t" l="l"/>
            <a:pathLst>
              <a:path h="2232834" w="2232834">
                <a:moveTo>
                  <a:pt x="0" y="0"/>
                </a:moveTo>
                <a:lnTo>
                  <a:pt x="2232834" y="0"/>
                </a:lnTo>
                <a:lnTo>
                  <a:pt x="2232834" y="2232834"/>
                </a:lnTo>
                <a:lnTo>
                  <a:pt x="0" y="2232834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30352" y="668187"/>
            <a:ext cx="6510528" cy="1689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1"/>
              </a:lnSpc>
            </a:pPr>
            <a:r>
              <a:rPr lang="en-US" sz="6501" b="true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REINFORCEMENT LEARNING &amp; </a:t>
            </a:r>
            <a:r>
              <a:rPr lang="en-US" sz="6501" b="true">
                <a:solidFill>
                  <a:srgbClr val="0085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DQN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30352" y="3053513"/>
            <a:ext cx="4773168" cy="923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4"/>
              </a:lnSpc>
            </a:pPr>
            <a:r>
              <a:rPr lang="en-US" sz="263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DQN </a:t>
            </a:r>
            <a:r>
              <a:rPr lang="en-US" sz="2639" b="true">
                <a:solidFill>
                  <a:srgbClr val="0085FF"/>
                </a:solidFill>
                <a:latin typeface="Roboto Bold"/>
                <a:ea typeface="Roboto Bold"/>
                <a:cs typeface="Roboto Bold"/>
                <a:sym typeface="Roboto Bold"/>
              </a:rPr>
              <a:t>learns</a:t>
            </a:r>
            <a:r>
              <a:rPr lang="en-US" sz="263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to choose the best route through trial and feedback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30352" y="4277041"/>
            <a:ext cx="4407408" cy="148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0"/>
              </a:lnSpc>
            </a:pPr>
            <a:r>
              <a:rPr lang="en-US" sz="281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It observes the current </a:t>
            </a:r>
            <a:r>
              <a:rPr lang="en-US" sz="2814" b="true">
                <a:solidFill>
                  <a:srgbClr val="0085FF"/>
                </a:solidFill>
                <a:latin typeface="Roboto Bold"/>
                <a:ea typeface="Roboto Bold"/>
                <a:cs typeface="Roboto Bold"/>
                <a:sym typeface="Roboto Bold"/>
              </a:rPr>
              <a:t>state</a:t>
            </a:r>
            <a:r>
              <a:rPr lang="en-US" sz="281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, takes an </a:t>
            </a:r>
            <a:r>
              <a:rPr lang="en-US" sz="2814" b="true">
                <a:solidFill>
                  <a:srgbClr val="0085FF"/>
                </a:solidFill>
                <a:latin typeface="Roboto Bold"/>
                <a:ea typeface="Roboto Bold"/>
                <a:cs typeface="Roboto Bold"/>
                <a:sym typeface="Roboto Bold"/>
              </a:rPr>
              <a:t>action</a:t>
            </a:r>
            <a:r>
              <a:rPr lang="en-US" sz="281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, and receives a </a:t>
            </a:r>
            <a:r>
              <a:rPr lang="en-US" sz="2814" b="true">
                <a:solidFill>
                  <a:srgbClr val="0085FF"/>
                </a:solidFill>
                <a:latin typeface="Roboto Bold"/>
                <a:ea typeface="Roboto Bold"/>
                <a:cs typeface="Roboto Bold"/>
                <a:sym typeface="Roboto Bold"/>
              </a:rPr>
              <a:t>reward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30352" y="6072807"/>
            <a:ext cx="4864608" cy="1334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6"/>
              </a:lnSpc>
            </a:pPr>
            <a:r>
              <a:rPr lang="en-US" sz="256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 agent </a:t>
            </a:r>
            <a:r>
              <a:rPr lang="en-US" sz="2568" b="true">
                <a:solidFill>
                  <a:srgbClr val="0085FF"/>
                </a:solidFill>
                <a:latin typeface="Roboto Bold"/>
                <a:ea typeface="Roboto Bold"/>
                <a:cs typeface="Roboto Bold"/>
                <a:sym typeface="Roboto Bold"/>
              </a:rPr>
              <a:t>improves</a:t>
            </a:r>
            <a:r>
              <a:rPr lang="en-US" sz="256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its policy to select routing actions that minimize time, distance, and cost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28625" y="8143875"/>
            <a:ext cx="17430750" cy="1933575"/>
          </a:xfrm>
          <a:custGeom>
            <a:avLst/>
            <a:gdLst/>
            <a:ahLst/>
            <a:cxnLst/>
            <a:rect r="r" b="b" t="t" l="l"/>
            <a:pathLst>
              <a:path h="1933575" w="17430750">
                <a:moveTo>
                  <a:pt x="0" y="0"/>
                </a:moveTo>
                <a:lnTo>
                  <a:pt x="17430750" y="0"/>
                </a:lnTo>
                <a:lnTo>
                  <a:pt x="1743075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4128" y="8520208"/>
            <a:ext cx="2414016" cy="389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2"/>
              </a:lnSpc>
            </a:pPr>
            <a:r>
              <a:rPr lang="en-US" sz="2287" b="true">
                <a:solidFill>
                  <a:srgbClr val="0085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NEURAL NETWORK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4128" y="9103804"/>
            <a:ext cx="256032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4"/>
              </a:lnSpc>
            </a:pPr>
            <a:r>
              <a:rPr lang="en-US" sz="127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approximates Q-values for state-action pairs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4352925" y="8353425"/>
            <a:ext cx="219075" cy="1295400"/>
          </a:xfrm>
          <a:custGeom>
            <a:avLst/>
            <a:gdLst/>
            <a:ahLst/>
            <a:cxnLst/>
            <a:rect r="r" b="b" t="t" l="l"/>
            <a:pathLst>
              <a:path h="1295400" w="219075">
                <a:moveTo>
                  <a:pt x="0" y="0"/>
                </a:moveTo>
                <a:lnTo>
                  <a:pt x="219075" y="0"/>
                </a:lnTo>
                <a:lnTo>
                  <a:pt x="2190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138928" y="8524256"/>
            <a:ext cx="2633472" cy="381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3"/>
              </a:lnSpc>
            </a:pPr>
            <a:r>
              <a:rPr lang="en-US" sz="2231" b="true">
                <a:solidFill>
                  <a:srgbClr val="0085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EXPERIENCE REPLAY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138928" y="8960930"/>
            <a:ext cx="3310128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9"/>
              </a:lnSpc>
            </a:pPr>
            <a:r>
              <a:rPr lang="en-US" sz="222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stores past experiences and samples for stable learning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924925" y="8353425"/>
            <a:ext cx="219075" cy="1295400"/>
          </a:xfrm>
          <a:custGeom>
            <a:avLst/>
            <a:gdLst/>
            <a:ahLst/>
            <a:cxnLst/>
            <a:rect r="r" b="b" t="t" l="l"/>
            <a:pathLst>
              <a:path h="1295400" w="219075">
                <a:moveTo>
                  <a:pt x="0" y="0"/>
                </a:moveTo>
                <a:lnTo>
                  <a:pt x="219075" y="0"/>
                </a:lnTo>
                <a:lnTo>
                  <a:pt x="2190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564624" y="8529376"/>
            <a:ext cx="2340864" cy="380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3"/>
              </a:lnSpc>
            </a:pPr>
            <a:r>
              <a:rPr lang="en-US" sz="2259" b="true">
                <a:solidFill>
                  <a:srgbClr val="0085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TARGET NETWORK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64624" y="8970455"/>
            <a:ext cx="2395728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5"/>
              </a:lnSpc>
            </a:pPr>
            <a:r>
              <a:rPr lang="en-US" sz="212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uses delayed updates to stabilize training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2839700" y="8353425"/>
            <a:ext cx="228600" cy="1295400"/>
          </a:xfrm>
          <a:custGeom>
            <a:avLst/>
            <a:gdLst/>
            <a:ahLst/>
            <a:cxnLst/>
            <a:rect r="r" b="b" t="t" l="l"/>
            <a:pathLst>
              <a:path h="1295400" w="228600">
                <a:moveTo>
                  <a:pt x="0" y="0"/>
                </a:moveTo>
                <a:lnTo>
                  <a:pt x="228600" y="0"/>
                </a:lnTo>
                <a:lnTo>
                  <a:pt x="2286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3587984" y="8515802"/>
            <a:ext cx="1115568" cy="398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1"/>
              </a:lnSpc>
            </a:pPr>
            <a:r>
              <a:rPr lang="en-US" sz="2315" b="true">
                <a:solidFill>
                  <a:srgbClr val="0085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Q-VALUE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587984" y="8960930"/>
            <a:ext cx="3090672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9"/>
              </a:lnSpc>
            </a:pPr>
            <a:r>
              <a:rPr lang="en-US" sz="222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expected return of an action from a given state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181850" y="1285875"/>
            <a:ext cx="2619375" cy="2143125"/>
          </a:xfrm>
          <a:custGeom>
            <a:avLst/>
            <a:gdLst/>
            <a:ahLst/>
            <a:cxnLst/>
            <a:rect r="r" b="b" t="t" l="l"/>
            <a:pathLst>
              <a:path h="2143125" w="2619375">
                <a:moveTo>
                  <a:pt x="0" y="0"/>
                </a:moveTo>
                <a:lnTo>
                  <a:pt x="2619375" y="0"/>
                </a:lnTo>
                <a:lnTo>
                  <a:pt x="261937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791700" y="428625"/>
            <a:ext cx="3057525" cy="2143125"/>
          </a:xfrm>
          <a:custGeom>
            <a:avLst/>
            <a:gdLst/>
            <a:ahLst/>
            <a:cxnLst/>
            <a:rect r="r" b="b" t="t" l="l"/>
            <a:pathLst>
              <a:path h="2143125" w="3057525">
                <a:moveTo>
                  <a:pt x="0" y="0"/>
                </a:moveTo>
                <a:lnTo>
                  <a:pt x="3057525" y="0"/>
                </a:lnTo>
                <a:lnTo>
                  <a:pt x="305752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716768" y="825913"/>
            <a:ext cx="1042416" cy="482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2"/>
              </a:lnSpc>
            </a:pPr>
            <a:r>
              <a:rPr lang="en-US" b="true" sz="2737">
                <a:solidFill>
                  <a:srgbClr val="0085FF"/>
                </a:solidFill>
                <a:latin typeface="Roboto Bold"/>
                <a:ea typeface="Roboto Bold"/>
                <a:cs typeface="Roboto Bold"/>
                <a:sym typeface="Roboto Bold"/>
              </a:rPr>
              <a:t>STATE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04704" y="1364696"/>
            <a:ext cx="2029968" cy="965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3"/>
              </a:lnSpc>
            </a:pPr>
            <a:r>
              <a:rPr lang="en-US" sz="200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current location, destination, and traffic environment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2620625" y="1285875"/>
            <a:ext cx="2619375" cy="2143125"/>
          </a:xfrm>
          <a:custGeom>
            <a:avLst/>
            <a:gdLst/>
            <a:ahLst/>
            <a:cxnLst/>
            <a:rect r="r" b="b" t="t" l="l"/>
            <a:pathLst>
              <a:path h="2143125" w="2619375">
                <a:moveTo>
                  <a:pt x="0" y="0"/>
                </a:moveTo>
                <a:lnTo>
                  <a:pt x="2619375" y="0"/>
                </a:lnTo>
                <a:lnTo>
                  <a:pt x="261937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3716000" y="3209925"/>
            <a:ext cx="2838450" cy="2362200"/>
          </a:xfrm>
          <a:custGeom>
            <a:avLst/>
            <a:gdLst/>
            <a:ahLst/>
            <a:cxnLst/>
            <a:rect r="r" b="b" t="t" l="l"/>
            <a:pathLst>
              <a:path h="2362200" w="2838450">
                <a:moveTo>
                  <a:pt x="0" y="0"/>
                </a:moveTo>
                <a:lnTo>
                  <a:pt x="2838450" y="0"/>
                </a:lnTo>
                <a:lnTo>
                  <a:pt x="283845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4593824" y="3726847"/>
            <a:ext cx="1261872" cy="482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2"/>
              </a:lnSpc>
            </a:pPr>
            <a:r>
              <a:rPr lang="en-US" b="true" sz="2737">
                <a:solidFill>
                  <a:srgbClr val="0085FF"/>
                </a:solidFill>
                <a:latin typeface="Roboto Bold"/>
                <a:ea typeface="Roboto Bold"/>
                <a:cs typeface="Roboto Bold"/>
                <a:sym typeface="Roboto Bold"/>
              </a:rPr>
              <a:t>ACTION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520672" y="4330256"/>
            <a:ext cx="135331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3"/>
              </a:lnSpc>
            </a:pPr>
            <a:r>
              <a:rPr lang="en-US" sz="206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select next road or node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2620625" y="5353050"/>
            <a:ext cx="2619375" cy="2152650"/>
          </a:xfrm>
          <a:custGeom>
            <a:avLst/>
            <a:gdLst/>
            <a:ahLst/>
            <a:cxnLst/>
            <a:rect r="r" b="b" t="t" l="l"/>
            <a:pathLst>
              <a:path h="2152650" w="2619375">
                <a:moveTo>
                  <a:pt x="0" y="0"/>
                </a:moveTo>
                <a:lnTo>
                  <a:pt x="2619375" y="0"/>
                </a:lnTo>
                <a:lnTo>
                  <a:pt x="2619375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9572625" y="6210300"/>
            <a:ext cx="3276600" cy="1933575"/>
          </a:xfrm>
          <a:custGeom>
            <a:avLst/>
            <a:gdLst/>
            <a:ahLst/>
            <a:cxnLst/>
            <a:rect r="r" b="b" t="t" l="l"/>
            <a:pathLst>
              <a:path h="1933575" w="3276600">
                <a:moveTo>
                  <a:pt x="0" y="0"/>
                </a:moveTo>
                <a:lnTo>
                  <a:pt x="3276600" y="0"/>
                </a:lnTo>
                <a:lnTo>
                  <a:pt x="32766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0131552" y="6606349"/>
            <a:ext cx="2231136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b="true" sz="2475">
                <a:solidFill>
                  <a:srgbClr val="0085FF"/>
                </a:solidFill>
                <a:latin typeface="Roboto Bold"/>
                <a:ea typeface="Roboto Bold"/>
                <a:cs typeface="Roboto Bold"/>
                <a:sym typeface="Roboto Bold"/>
              </a:rPr>
              <a:t>ENVIRONMENT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96144" y="7138606"/>
            <a:ext cx="1883664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3"/>
              </a:lnSpc>
            </a:pPr>
            <a:r>
              <a:rPr lang="en-US" sz="206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real-world traffic and road network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7181850" y="5572125"/>
            <a:ext cx="2619375" cy="1714500"/>
          </a:xfrm>
          <a:custGeom>
            <a:avLst/>
            <a:gdLst/>
            <a:ahLst/>
            <a:cxnLst/>
            <a:rect r="r" b="b" t="t" l="l"/>
            <a:pathLst>
              <a:path h="1714500" w="2619375">
                <a:moveTo>
                  <a:pt x="0" y="0"/>
                </a:moveTo>
                <a:lnTo>
                  <a:pt x="2619375" y="0"/>
                </a:lnTo>
                <a:lnTo>
                  <a:pt x="261937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5876925" y="3209925"/>
            <a:ext cx="2838450" cy="2581275"/>
          </a:xfrm>
          <a:custGeom>
            <a:avLst/>
            <a:gdLst/>
            <a:ahLst/>
            <a:cxnLst/>
            <a:rect r="r" b="b" t="t" l="l"/>
            <a:pathLst>
              <a:path h="2581275" w="2838450">
                <a:moveTo>
                  <a:pt x="0" y="0"/>
                </a:moveTo>
                <a:lnTo>
                  <a:pt x="2838450" y="0"/>
                </a:lnTo>
                <a:lnTo>
                  <a:pt x="2838450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6656832" y="3531870"/>
            <a:ext cx="1426464" cy="48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4"/>
              </a:lnSpc>
            </a:pPr>
            <a:r>
              <a:rPr lang="en-US" b="true" sz="2775">
                <a:solidFill>
                  <a:srgbClr val="0085FF"/>
                </a:solidFill>
                <a:latin typeface="Roboto Bold"/>
                <a:ea typeface="Roboto Bold"/>
                <a:cs typeface="Roboto Bold"/>
                <a:sym typeface="Roboto Bold"/>
              </a:rPr>
              <a:t>REWARD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291072" y="4081370"/>
            <a:ext cx="2194560" cy="1396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3"/>
              </a:lnSpc>
            </a:pPr>
            <a:r>
              <a:rPr lang="en-US" sz="200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positive for efficient movement, penalize extra distance, time, cost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9572625" y="3209925"/>
            <a:ext cx="3276600" cy="2152650"/>
          </a:xfrm>
          <a:custGeom>
            <a:avLst/>
            <a:gdLst/>
            <a:ahLst/>
            <a:cxnLst/>
            <a:rect r="r" b="b" t="t" l="l"/>
            <a:pathLst>
              <a:path h="2152650" w="3276600">
                <a:moveTo>
                  <a:pt x="0" y="0"/>
                </a:moveTo>
                <a:lnTo>
                  <a:pt x="3276600" y="0"/>
                </a:lnTo>
                <a:lnTo>
                  <a:pt x="3276600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0186416" y="5467541"/>
            <a:ext cx="2011680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0"/>
              </a:lnSpc>
            </a:pPr>
            <a:r>
              <a:rPr lang="en-US" b="true" sz="285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DQN AGENT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16202319" y="-32559"/>
            <a:ext cx="2232834" cy="2232834"/>
          </a:xfrm>
          <a:custGeom>
            <a:avLst/>
            <a:gdLst/>
            <a:ahLst/>
            <a:cxnLst/>
            <a:rect r="r" b="b" t="t" l="l"/>
            <a:pathLst>
              <a:path h="2232834" w="2232834">
                <a:moveTo>
                  <a:pt x="0" y="0"/>
                </a:moveTo>
                <a:lnTo>
                  <a:pt x="2232834" y="0"/>
                </a:lnTo>
                <a:lnTo>
                  <a:pt x="2232834" y="2232834"/>
                </a:lnTo>
                <a:lnTo>
                  <a:pt x="0" y="223283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6656" y="758808"/>
            <a:ext cx="5852160" cy="1214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91"/>
              </a:lnSpc>
            </a:pPr>
            <a:r>
              <a:rPr lang="en-US" b="true" sz="9191" spc="-183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CLASSICAL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6656" y="1818369"/>
            <a:ext cx="5852160" cy="1214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91"/>
              </a:lnSpc>
            </a:pPr>
            <a:r>
              <a:rPr lang="en-US" b="true" sz="9191" spc="-183">
                <a:solidFill>
                  <a:srgbClr val="38B6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BASELINES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7700" y="3429000"/>
            <a:ext cx="16992600" cy="6219825"/>
          </a:xfrm>
          <a:custGeom>
            <a:avLst/>
            <a:gdLst/>
            <a:ahLst/>
            <a:cxnLst/>
            <a:rect r="r" b="b" t="t" l="l"/>
            <a:pathLst>
              <a:path h="6219825" w="16992600">
                <a:moveTo>
                  <a:pt x="0" y="0"/>
                </a:moveTo>
                <a:lnTo>
                  <a:pt x="16992600" y="0"/>
                </a:lnTo>
                <a:lnTo>
                  <a:pt x="16992600" y="6219825"/>
                </a:lnTo>
                <a:lnTo>
                  <a:pt x="0" y="6219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35024" y="3793522"/>
            <a:ext cx="1920240" cy="380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2"/>
              </a:lnSpc>
            </a:pPr>
            <a:r>
              <a:rPr lang="en-US" b="true" sz="2962" spc="-59">
                <a:solidFill>
                  <a:srgbClr val="FFFFFF"/>
                </a:solidFill>
                <a:latin typeface="IBM Plex Sans Condensed Medium"/>
                <a:ea typeface="IBM Plex Sans Condensed Medium"/>
                <a:cs typeface="IBM Plex Sans Condensed Medium"/>
                <a:sym typeface="IBM Plex Sans Condensed Medium"/>
              </a:rPr>
              <a:t>APPROACH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974336" y="3793522"/>
            <a:ext cx="914400" cy="380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2"/>
              </a:lnSpc>
            </a:pPr>
            <a:r>
              <a:rPr lang="en-US" b="true" sz="2962" spc="-59">
                <a:solidFill>
                  <a:srgbClr val="FFFFFF"/>
                </a:solidFill>
                <a:latin typeface="IBM Plex Sans Condensed Medium"/>
                <a:ea typeface="IBM Plex Sans Condensed Medium"/>
                <a:cs typeface="IBM Plex Sans Condensed Medium"/>
                <a:sym typeface="IBM Plex Sans Condensed Medium"/>
              </a:rPr>
              <a:t>TYPE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61504" y="3793522"/>
            <a:ext cx="2798064" cy="380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2"/>
              </a:lnSpc>
            </a:pPr>
            <a:r>
              <a:rPr lang="en-US" b="true" sz="2962" spc="-59">
                <a:solidFill>
                  <a:srgbClr val="FFFFFF"/>
                </a:solidFill>
                <a:latin typeface="IBM Plex Sans Condensed Medium"/>
                <a:ea typeface="IBM Plex Sans Condensed Medium"/>
                <a:cs typeface="IBM Plex Sans Condensed Medium"/>
                <a:sym typeface="IBM Plex Sans Condensed Medium"/>
              </a:rPr>
              <a:t>MAIN PRINCIPLE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539728" y="3793522"/>
            <a:ext cx="1883664" cy="380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2"/>
              </a:lnSpc>
            </a:pPr>
            <a:r>
              <a:rPr lang="en-US" b="true" sz="2962" spc="-59">
                <a:solidFill>
                  <a:srgbClr val="FFFFFF"/>
                </a:solidFill>
                <a:latin typeface="IBM Plex Sans Condensed Medium"/>
                <a:ea typeface="IBM Plex Sans Condensed Medium"/>
                <a:cs typeface="IBM Plex Sans Condensed Medium"/>
                <a:sym typeface="IBM Plex Sans Condensed Medium"/>
              </a:rPr>
              <a:t>STRENGTH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868144" y="3793522"/>
            <a:ext cx="1975104" cy="380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2"/>
              </a:lnSpc>
            </a:pPr>
            <a:r>
              <a:rPr lang="en-US" b="true" sz="2962" spc="-59">
                <a:solidFill>
                  <a:srgbClr val="FFFFFF"/>
                </a:solidFill>
                <a:latin typeface="IBM Plex Sans Condensed Medium"/>
                <a:ea typeface="IBM Plex Sans Condensed Medium"/>
                <a:cs typeface="IBM Plex Sans Condensed Medium"/>
                <a:sym typeface="IBM Plex Sans Condensed Medium"/>
              </a:rPr>
              <a:t>LIMITATION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35024" y="5107266"/>
            <a:ext cx="1682496" cy="540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3"/>
              </a:lnSpc>
            </a:pPr>
            <a:r>
              <a:rPr lang="en-US" sz="4023" spc="-80" b="true">
                <a:solidFill>
                  <a:srgbClr val="38B6FF"/>
                </a:solidFill>
                <a:latin typeface="Roboto Bold"/>
                <a:ea typeface="Roboto Bold"/>
                <a:cs typeface="Roboto Bold"/>
                <a:sym typeface="Roboto Bold"/>
              </a:rPr>
              <a:t>Dijkstra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151376" y="4869942"/>
            <a:ext cx="2029968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4"/>
              </a:lnSpc>
            </a:pPr>
            <a:r>
              <a:rPr lang="en-US" sz="2962" spc="-5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Exact</a:t>
            </a:r>
          </a:p>
          <a:p>
            <a:pPr algn="l">
              <a:lnSpc>
                <a:spcPts val="3554"/>
              </a:lnSpc>
            </a:pPr>
            <a:r>
              <a:rPr lang="en-US" sz="2962" spc="-5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shortest-path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479792" y="4869942"/>
            <a:ext cx="1847088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4"/>
              </a:lnSpc>
            </a:pPr>
            <a:r>
              <a:rPr lang="en-US" sz="2962" spc="-5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 heuristic needed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155680" y="4869942"/>
            <a:ext cx="1243584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4"/>
              </a:lnSpc>
            </a:pPr>
            <a:r>
              <a:rPr lang="en-US" sz="2962" spc="-5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Reliable baseline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502384" y="4671822"/>
            <a:ext cx="2688336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4"/>
              </a:lnSpc>
            </a:pPr>
            <a:r>
              <a:rPr lang="en-US" sz="2962" spc="-5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Computationally intensive on large graphs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35024" y="6851216"/>
            <a:ext cx="548640" cy="529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9"/>
              </a:lnSpc>
            </a:pPr>
            <a:r>
              <a:rPr lang="en-US" sz="3969" spc="-79" b="true">
                <a:solidFill>
                  <a:srgbClr val="38B6FF"/>
                </a:solidFill>
                <a:latin typeface="Roboto Bold"/>
                <a:ea typeface="Roboto Bold"/>
                <a:cs typeface="Roboto Bold"/>
                <a:sym typeface="Roboto Bold"/>
              </a:rPr>
              <a:t>A*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151376" y="6608445"/>
            <a:ext cx="210312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4"/>
              </a:lnSpc>
            </a:pPr>
            <a:r>
              <a:rPr lang="en-US" sz="2962" spc="-5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Heuristic guided search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479792" y="6608445"/>
            <a:ext cx="2523744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4"/>
              </a:lnSpc>
            </a:pPr>
            <a:r>
              <a:rPr lang="en-US" sz="2962" spc="-5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Uses heuristic to prune search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155680" y="6608445"/>
            <a:ext cx="210312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4"/>
              </a:lnSpc>
            </a:pPr>
            <a:r>
              <a:rPr lang="en-US" sz="2962" spc="-5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Efficient with good heuristic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502384" y="6608445"/>
            <a:ext cx="2340864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4"/>
              </a:lnSpc>
            </a:pPr>
            <a:r>
              <a:rPr lang="en-US" sz="2962" spc="-5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Depends on heuristic quality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35024" y="8481402"/>
            <a:ext cx="1024128" cy="540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3"/>
              </a:lnSpc>
            </a:pPr>
            <a:r>
              <a:rPr lang="en-US" sz="4023" spc="-80" b="true">
                <a:solidFill>
                  <a:srgbClr val="38B6FF"/>
                </a:solidFill>
                <a:latin typeface="Roboto Bold"/>
                <a:ea typeface="Roboto Bold"/>
                <a:cs typeface="Roboto Bold"/>
                <a:sym typeface="Roboto Bold"/>
              </a:rPr>
              <a:t>DQN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151376" y="8529637"/>
            <a:ext cx="2340864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4"/>
              </a:lnSpc>
            </a:pPr>
            <a:r>
              <a:rPr lang="en-US" sz="2962" spc="-5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Learning-based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479792" y="8233791"/>
            <a:ext cx="3090672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4"/>
              </a:lnSpc>
            </a:pPr>
            <a:r>
              <a:rPr lang="en-US" sz="2962" spc="-5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Learns routing policy by interaction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155680" y="8233791"/>
            <a:ext cx="2761488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4"/>
              </a:lnSpc>
            </a:pPr>
            <a:r>
              <a:rPr lang="en-US" sz="2962" spc="-5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Adapts to dynamic environments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502384" y="8233791"/>
            <a:ext cx="2633472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4"/>
              </a:lnSpc>
            </a:pPr>
            <a:r>
              <a:rPr lang="en-US" sz="2962" spc="-5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Requires training, less predictable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6202319" y="-32559"/>
            <a:ext cx="2232834" cy="2232834"/>
          </a:xfrm>
          <a:custGeom>
            <a:avLst/>
            <a:gdLst/>
            <a:ahLst/>
            <a:cxnLst/>
            <a:rect r="r" b="b" t="t" l="l"/>
            <a:pathLst>
              <a:path h="2232834" w="2232834">
                <a:moveTo>
                  <a:pt x="0" y="0"/>
                </a:moveTo>
                <a:lnTo>
                  <a:pt x="2232834" y="0"/>
                </a:lnTo>
                <a:lnTo>
                  <a:pt x="2232834" y="2232834"/>
                </a:lnTo>
                <a:lnTo>
                  <a:pt x="0" y="22328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9550" y="3857625"/>
            <a:ext cx="885825" cy="4076700"/>
          </a:xfrm>
          <a:custGeom>
            <a:avLst/>
            <a:gdLst/>
            <a:ahLst/>
            <a:cxnLst/>
            <a:rect r="r" b="b" t="t" l="l"/>
            <a:pathLst>
              <a:path h="4076700" w="885825">
                <a:moveTo>
                  <a:pt x="0" y="0"/>
                </a:moveTo>
                <a:lnTo>
                  <a:pt x="885825" y="0"/>
                </a:lnTo>
                <a:lnTo>
                  <a:pt x="885825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85850" y="3000375"/>
            <a:ext cx="5229225" cy="3219450"/>
          </a:xfrm>
          <a:custGeom>
            <a:avLst/>
            <a:gdLst/>
            <a:ahLst/>
            <a:cxnLst/>
            <a:rect r="r" b="b" t="t" l="l"/>
            <a:pathLst>
              <a:path h="3219450" w="5229225">
                <a:moveTo>
                  <a:pt x="0" y="0"/>
                </a:moveTo>
                <a:lnTo>
                  <a:pt x="5229225" y="0"/>
                </a:lnTo>
                <a:lnTo>
                  <a:pt x="522922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82496" y="3524315"/>
            <a:ext cx="1847088" cy="385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4"/>
              </a:lnSpc>
            </a:pPr>
            <a:r>
              <a:rPr lang="en-US" b="true" sz="2814" spc="-84">
                <a:solidFill>
                  <a:srgbClr val="007DC6"/>
                </a:solidFill>
                <a:latin typeface="Roboto Bold"/>
                <a:ea typeface="Roboto Bold"/>
                <a:cs typeface="Roboto Bold"/>
                <a:sym typeface="Roboto Bold"/>
              </a:rPr>
              <a:t>FRONTEND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82496" y="4113502"/>
            <a:ext cx="1847088" cy="1767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7"/>
              </a:lnSpc>
            </a:pPr>
            <a:r>
              <a:rPr lang="en-US" sz="2371" spc="-7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Next.js TypeScript Tailwind CSS Leafet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133850" y="3857625"/>
            <a:ext cx="1752600" cy="1714500"/>
          </a:xfrm>
          <a:custGeom>
            <a:avLst/>
            <a:gdLst/>
            <a:ahLst/>
            <a:cxnLst/>
            <a:rect r="r" b="b" t="t" l="l"/>
            <a:pathLst>
              <a:path h="1714500" w="1752600">
                <a:moveTo>
                  <a:pt x="0" y="0"/>
                </a:moveTo>
                <a:lnTo>
                  <a:pt x="1752600" y="0"/>
                </a:lnTo>
                <a:lnTo>
                  <a:pt x="175260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305550" y="3000375"/>
            <a:ext cx="5457825" cy="3219450"/>
          </a:xfrm>
          <a:custGeom>
            <a:avLst/>
            <a:gdLst/>
            <a:ahLst/>
            <a:cxnLst/>
            <a:rect r="r" b="b" t="t" l="l"/>
            <a:pathLst>
              <a:path h="3219450" w="5457825">
                <a:moveTo>
                  <a:pt x="0" y="0"/>
                </a:moveTo>
                <a:lnTo>
                  <a:pt x="5457825" y="0"/>
                </a:lnTo>
                <a:lnTo>
                  <a:pt x="545782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931152" y="3524315"/>
            <a:ext cx="1664208" cy="385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4"/>
              </a:lnSpc>
            </a:pPr>
            <a:r>
              <a:rPr lang="en-US" b="true" sz="2814" spc="-84">
                <a:solidFill>
                  <a:srgbClr val="007DC6"/>
                </a:solidFill>
                <a:latin typeface="Roboto Bold"/>
                <a:ea typeface="Roboto Bold"/>
                <a:cs typeface="Roboto Bold"/>
                <a:sym typeface="Roboto Bold"/>
              </a:rPr>
              <a:t>BACKEND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31152" y="4111026"/>
            <a:ext cx="1170432" cy="1319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7"/>
              </a:lnSpc>
            </a:pPr>
            <a:r>
              <a:rPr lang="en-US" sz="2371" spc="-7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FastAPI</a:t>
            </a:r>
          </a:p>
          <a:p>
            <a:pPr algn="l">
              <a:lnSpc>
                <a:spcPts val="3557"/>
              </a:lnSpc>
            </a:pPr>
            <a:r>
              <a:rPr lang="en-US" sz="2371" spc="-7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Python</a:t>
            </a:r>
          </a:p>
          <a:p>
            <a:pPr algn="l">
              <a:lnSpc>
                <a:spcPts val="3557"/>
              </a:lnSpc>
            </a:pPr>
            <a:r>
              <a:rPr lang="en-US" sz="2371" spc="-7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REST API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572625" y="3857625"/>
            <a:ext cx="1533525" cy="1933575"/>
          </a:xfrm>
          <a:custGeom>
            <a:avLst/>
            <a:gdLst/>
            <a:ahLst/>
            <a:cxnLst/>
            <a:rect r="r" b="b" t="t" l="l"/>
            <a:pathLst>
              <a:path h="1933575" w="1533525">
                <a:moveTo>
                  <a:pt x="0" y="0"/>
                </a:moveTo>
                <a:lnTo>
                  <a:pt x="1533525" y="0"/>
                </a:lnTo>
                <a:lnTo>
                  <a:pt x="153352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753850" y="3000375"/>
            <a:ext cx="5448300" cy="3219450"/>
          </a:xfrm>
          <a:custGeom>
            <a:avLst/>
            <a:gdLst/>
            <a:ahLst/>
            <a:cxnLst/>
            <a:rect r="r" b="b" t="t" l="l"/>
            <a:pathLst>
              <a:path h="3219450" w="5448300">
                <a:moveTo>
                  <a:pt x="0" y="0"/>
                </a:moveTo>
                <a:lnTo>
                  <a:pt x="5448300" y="0"/>
                </a:lnTo>
                <a:lnTo>
                  <a:pt x="544830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326112" y="3524315"/>
            <a:ext cx="1097280" cy="385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4"/>
              </a:lnSpc>
            </a:pPr>
            <a:r>
              <a:rPr lang="en-US" b="true" sz="2814" spc="-84">
                <a:solidFill>
                  <a:srgbClr val="007DC6"/>
                </a:solidFill>
                <a:latin typeface="Roboto Bold"/>
                <a:ea typeface="Roboto Bold"/>
                <a:cs typeface="Roboto Bold"/>
                <a:sym typeface="Roboto Bold"/>
              </a:rPr>
              <a:t>AI / ML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326112" y="4111026"/>
            <a:ext cx="2176272" cy="1319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7"/>
              </a:lnSpc>
            </a:pPr>
            <a:r>
              <a:rPr lang="en-US" sz="2371" spc="-7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PyTorch</a:t>
            </a:r>
          </a:p>
          <a:p>
            <a:pPr algn="l">
              <a:lnSpc>
                <a:spcPts val="3557"/>
              </a:lnSpc>
            </a:pPr>
            <a:r>
              <a:rPr lang="en-US" sz="2371" spc="-7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Stable-Baselines3</a:t>
            </a:r>
          </a:p>
          <a:p>
            <a:pPr algn="l">
              <a:lnSpc>
                <a:spcPts val="3557"/>
              </a:lnSpc>
            </a:pPr>
            <a:r>
              <a:rPr lang="en-US" sz="2371" spc="-7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Gymnasium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5020925" y="3638550"/>
            <a:ext cx="1533525" cy="1933575"/>
          </a:xfrm>
          <a:custGeom>
            <a:avLst/>
            <a:gdLst/>
            <a:ahLst/>
            <a:cxnLst/>
            <a:rect r="r" b="b" t="t" l="l"/>
            <a:pathLst>
              <a:path h="1933575" w="1533525">
                <a:moveTo>
                  <a:pt x="0" y="0"/>
                </a:moveTo>
                <a:lnTo>
                  <a:pt x="1533525" y="0"/>
                </a:lnTo>
                <a:lnTo>
                  <a:pt x="153352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85850" y="6210300"/>
            <a:ext cx="5229225" cy="3219450"/>
          </a:xfrm>
          <a:custGeom>
            <a:avLst/>
            <a:gdLst/>
            <a:ahLst/>
            <a:cxnLst/>
            <a:rect r="r" b="b" t="t" l="l"/>
            <a:pathLst>
              <a:path h="3219450" w="5229225">
                <a:moveTo>
                  <a:pt x="0" y="0"/>
                </a:moveTo>
                <a:lnTo>
                  <a:pt x="5229225" y="0"/>
                </a:lnTo>
                <a:lnTo>
                  <a:pt x="522922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682496" y="6805868"/>
            <a:ext cx="1536192" cy="385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4"/>
              </a:lnSpc>
            </a:pPr>
            <a:r>
              <a:rPr lang="en-US" b="true" sz="2814" spc="-84">
                <a:solidFill>
                  <a:srgbClr val="007DC6"/>
                </a:solidFill>
                <a:latin typeface="Roboto Bold"/>
                <a:ea typeface="Roboto Bold"/>
                <a:cs typeface="Roboto Bold"/>
                <a:sym typeface="Roboto Bold"/>
              </a:rPr>
              <a:t>ROUTING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82496" y="7402866"/>
            <a:ext cx="1261872" cy="1319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7"/>
              </a:lnSpc>
            </a:pPr>
            <a:r>
              <a:rPr lang="en-US" sz="2371" spc="-7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NetworkX</a:t>
            </a:r>
          </a:p>
          <a:p>
            <a:pPr algn="l">
              <a:lnSpc>
                <a:spcPts val="3557"/>
              </a:lnSpc>
            </a:pPr>
            <a:r>
              <a:rPr lang="en-US" sz="2371" spc="-7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Dijkstra</a:t>
            </a:r>
          </a:p>
          <a:p>
            <a:pPr algn="l">
              <a:lnSpc>
                <a:spcPts val="3557"/>
              </a:lnSpc>
            </a:pPr>
            <a:r>
              <a:rPr lang="en-US" sz="2371" spc="-7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A*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4133850" y="6858000"/>
            <a:ext cx="1752600" cy="1933575"/>
          </a:xfrm>
          <a:custGeom>
            <a:avLst/>
            <a:gdLst/>
            <a:ahLst/>
            <a:cxnLst/>
            <a:rect r="r" b="b" t="t" l="l"/>
            <a:pathLst>
              <a:path h="1933575" w="1752600">
                <a:moveTo>
                  <a:pt x="0" y="0"/>
                </a:moveTo>
                <a:lnTo>
                  <a:pt x="1752600" y="0"/>
                </a:lnTo>
                <a:lnTo>
                  <a:pt x="17526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305550" y="6210300"/>
            <a:ext cx="5457825" cy="3219450"/>
          </a:xfrm>
          <a:custGeom>
            <a:avLst/>
            <a:gdLst/>
            <a:ahLst/>
            <a:cxnLst/>
            <a:rect r="r" b="b" t="t" l="l"/>
            <a:pathLst>
              <a:path h="3219450" w="5457825">
                <a:moveTo>
                  <a:pt x="0" y="0"/>
                </a:moveTo>
                <a:lnTo>
                  <a:pt x="5457825" y="0"/>
                </a:lnTo>
                <a:lnTo>
                  <a:pt x="545782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931152" y="6805868"/>
            <a:ext cx="2194560" cy="385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4"/>
              </a:lnSpc>
            </a:pPr>
            <a:r>
              <a:rPr lang="en-US" b="true" sz="2814" spc="-84">
                <a:solidFill>
                  <a:srgbClr val="007DC6"/>
                </a:solidFill>
                <a:latin typeface="Roboto Bold"/>
                <a:ea typeface="Roboto Bold"/>
                <a:cs typeface="Roboto Bold"/>
                <a:sym typeface="Roboto Bold"/>
              </a:rPr>
              <a:t>MAPS &amp; DATA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931152" y="7416617"/>
            <a:ext cx="2578608" cy="1291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5"/>
              </a:lnSpc>
            </a:pPr>
            <a:r>
              <a:rPr lang="en-US" sz="2343" spc="-7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OpenStreetMap</a:t>
            </a:r>
          </a:p>
          <a:p>
            <a:pPr algn="l">
              <a:lnSpc>
                <a:spcPts val="3515"/>
              </a:lnSpc>
            </a:pPr>
            <a:r>
              <a:rPr lang="en-US" sz="2343" spc="-7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Synthetic taxi-trip data</a:t>
            </a:r>
          </a:p>
          <a:p>
            <a:pPr algn="l">
              <a:lnSpc>
                <a:spcPts val="3515"/>
              </a:lnSpc>
            </a:pPr>
            <a:r>
              <a:rPr lang="en-US" sz="2343" spc="-7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Traffic simulation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9572625" y="6858000"/>
            <a:ext cx="1533525" cy="1933575"/>
          </a:xfrm>
          <a:custGeom>
            <a:avLst/>
            <a:gdLst/>
            <a:ahLst/>
            <a:cxnLst/>
            <a:rect r="r" b="b" t="t" l="l"/>
            <a:pathLst>
              <a:path h="1933575" w="1533525">
                <a:moveTo>
                  <a:pt x="0" y="0"/>
                </a:moveTo>
                <a:lnTo>
                  <a:pt x="1533525" y="0"/>
                </a:lnTo>
                <a:lnTo>
                  <a:pt x="153352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753850" y="6210300"/>
            <a:ext cx="5448300" cy="3219450"/>
          </a:xfrm>
          <a:custGeom>
            <a:avLst/>
            <a:gdLst/>
            <a:ahLst/>
            <a:cxnLst/>
            <a:rect r="r" b="b" t="t" l="l"/>
            <a:pathLst>
              <a:path h="3219450" w="5448300">
                <a:moveTo>
                  <a:pt x="0" y="0"/>
                </a:moveTo>
                <a:lnTo>
                  <a:pt x="5448300" y="0"/>
                </a:lnTo>
                <a:lnTo>
                  <a:pt x="544830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2326112" y="6805868"/>
            <a:ext cx="2304288" cy="385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4"/>
              </a:lnSpc>
            </a:pPr>
            <a:r>
              <a:rPr lang="en-US" b="true" sz="2814" spc="-84">
                <a:solidFill>
                  <a:srgbClr val="007DC6"/>
                </a:solidFill>
                <a:latin typeface="Roboto Bold"/>
                <a:ea typeface="Roboto Bold"/>
                <a:cs typeface="Roboto Bold"/>
                <a:sym typeface="Roboto Bold"/>
              </a:rPr>
              <a:t>DEPLOYMENT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326112" y="7402866"/>
            <a:ext cx="841248" cy="1319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7"/>
              </a:lnSpc>
            </a:pPr>
            <a:r>
              <a:rPr lang="en-US" sz="2371" spc="-7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Vercel</a:t>
            </a:r>
          </a:p>
          <a:p>
            <a:pPr algn="l">
              <a:lnSpc>
                <a:spcPts val="3557"/>
              </a:lnSpc>
            </a:pPr>
            <a:r>
              <a:rPr lang="en-US" sz="2371" spc="-7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Render</a:t>
            </a:r>
          </a:p>
          <a:p>
            <a:pPr algn="l">
              <a:lnSpc>
                <a:spcPts val="3557"/>
              </a:lnSpc>
            </a:pPr>
            <a:r>
              <a:rPr lang="en-US" sz="2371" spc="-7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GitHub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4801850" y="7067550"/>
            <a:ext cx="1962150" cy="1724025"/>
          </a:xfrm>
          <a:custGeom>
            <a:avLst/>
            <a:gdLst/>
            <a:ahLst/>
            <a:cxnLst/>
            <a:rect r="r" b="b" t="t" l="l"/>
            <a:pathLst>
              <a:path h="1724025" w="1962150">
                <a:moveTo>
                  <a:pt x="0" y="0"/>
                </a:moveTo>
                <a:lnTo>
                  <a:pt x="1962150" y="0"/>
                </a:lnTo>
                <a:lnTo>
                  <a:pt x="196215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7192625" y="3857625"/>
            <a:ext cx="885825" cy="4076700"/>
          </a:xfrm>
          <a:custGeom>
            <a:avLst/>
            <a:gdLst/>
            <a:ahLst/>
            <a:cxnLst/>
            <a:rect r="r" b="b" t="t" l="l"/>
            <a:pathLst>
              <a:path h="4076700" w="885825">
                <a:moveTo>
                  <a:pt x="0" y="0"/>
                </a:moveTo>
                <a:lnTo>
                  <a:pt x="885825" y="0"/>
                </a:lnTo>
                <a:lnTo>
                  <a:pt x="885825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713232" y="733413"/>
            <a:ext cx="10607040" cy="2069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95"/>
              </a:lnSpc>
            </a:pPr>
            <a:r>
              <a:rPr lang="en-US" b="true" sz="7995" spc="-239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TECHNOLOGY STACK &amp; </a:t>
            </a:r>
            <a:r>
              <a:rPr lang="en-US" b="true" sz="7995" spc="-239">
                <a:solidFill>
                  <a:srgbClr val="007DC6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IMPLEMENTATION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6202319" y="-32559"/>
            <a:ext cx="2232834" cy="2232834"/>
          </a:xfrm>
          <a:custGeom>
            <a:avLst/>
            <a:gdLst/>
            <a:ahLst/>
            <a:cxnLst/>
            <a:rect r="r" b="b" t="t" l="l"/>
            <a:pathLst>
              <a:path h="2232834" w="2232834">
                <a:moveTo>
                  <a:pt x="0" y="0"/>
                </a:moveTo>
                <a:lnTo>
                  <a:pt x="2232834" y="0"/>
                </a:lnTo>
                <a:lnTo>
                  <a:pt x="2232834" y="2232834"/>
                </a:lnTo>
                <a:lnTo>
                  <a:pt x="0" y="223283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30352" y="706773"/>
            <a:ext cx="4041648" cy="1502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10"/>
              </a:lnSpc>
            </a:pPr>
            <a:r>
              <a:rPr lang="en-US" sz="5472" b="true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RESULTS &amp; </a:t>
            </a:r>
            <a:r>
              <a:rPr lang="en-US" sz="5472" b="true">
                <a:solidFill>
                  <a:srgbClr val="38B6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DASHBOARD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30352" y="3216417"/>
            <a:ext cx="3547872" cy="2223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9"/>
              </a:lnSpc>
            </a:pPr>
            <a:r>
              <a:rPr lang="en-US" sz="245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Live system dashboard showing optimized route, key outputs, and algorithm comparison in a simulated environment.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5000625" y="209550"/>
            <a:ext cx="12639675" cy="6867525"/>
          </a:xfrm>
          <a:custGeom>
            <a:avLst/>
            <a:gdLst/>
            <a:ahLst/>
            <a:cxnLst/>
            <a:rect r="r" b="b" t="t" l="l"/>
            <a:pathLst>
              <a:path h="6867525" w="12639675">
                <a:moveTo>
                  <a:pt x="0" y="0"/>
                </a:moveTo>
                <a:lnTo>
                  <a:pt x="12639675" y="0"/>
                </a:lnTo>
                <a:lnTo>
                  <a:pt x="12639675" y="6867525"/>
                </a:lnTo>
                <a:lnTo>
                  <a:pt x="0" y="68675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431536" y="658255"/>
            <a:ext cx="4096512" cy="235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5"/>
              </a:lnSpc>
            </a:pPr>
            <a:r>
              <a:rPr lang="en-US" sz="1689" b="true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INTELLIGENT TAXI ROUTE OPTIMIZATION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887700" y="638175"/>
            <a:ext cx="447675" cy="219075"/>
          </a:xfrm>
          <a:custGeom>
            <a:avLst/>
            <a:gdLst/>
            <a:ahLst/>
            <a:cxnLst/>
            <a:rect r="r" b="b" t="t" l="l"/>
            <a:pathLst>
              <a:path h="219075" w="447675">
                <a:moveTo>
                  <a:pt x="0" y="0"/>
                </a:moveTo>
                <a:lnTo>
                  <a:pt x="447675" y="0"/>
                </a:lnTo>
                <a:lnTo>
                  <a:pt x="447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276320" y="709446"/>
            <a:ext cx="1060704" cy="193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9"/>
              </a:lnSpc>
            </a:pPr>
            <a:r>
              <a:rPr lang="en-US" sz="1471" b="true">
                <a:solidFill>
                  <a:srgbClr val="38B6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SIMULATED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219700" y="1066800"/>
            <a:ext cx="2838450" cy="1076325"/>
          </a:xfrm>
          <a:custGeom>
            <a:avLst/>
            <a:gdLst/>
            <a:ahLst/>
            <a:cxnLst/>
            <a:rect r="r" b="b" t="t" l="l"/>
            <a:pathLst>
              <a:path h="1076325" w="2838450">
                <a:moveTo>
                  <a:pt x="0" y="0"/>
                </a:moveTo>
                <a:lnTo>
                  <a:pt x="2838450" y="0"/>
                </a:lnTo>
                <a:lnTo>
                  <a:pt x="2838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577840" y="1359503"/>
            <a:ext cx="1170432" cy="16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5"/>
              </a:lnSpc>
            </a:pPr>
            <a:r>
              <a:rPr lang="en-US" sz="1162" b="true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ROUTE DISTANCE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577840" y="1633549"/>
            <a:ext cx="1060704" cy="300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4"/>
              </a:lnSpc>
            </a:pPr>
            <a:r>
              <a:rPr lang="en-US" sz="2198" b="true">
                <a:solidFill>
                  <a:srgbClr val="38B6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12.7 km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5219700" y="1924050"/>
            <a:ext cx="2838450" cy="1076325"/>
          </a:xfrm>
          <a:custGeom>
            <a:avLst/>
            <a:gdLst/>
            <a:ahLst/>
            <a:cxnLst/>
            <a:rect r="r" b="b" t="t" l="l"/>
            <a:pathLst>
              <a:path h="1076325" w="2838450">
                <a:moveTo>
                  <a:pt x="0" y="0"/>
                </a:moveTo>
                <a:lnTo>
                  <a:pt x="2838450" y="0"/>
                </a:lnTo>
                <a:lnTo>
                  <a:pt x="2838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577840" y="2507944"/>
            <a:ext cx="950976" cy="300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4"/>
              </a:lnSpc>
            </a:pPr>
            <a:r>
              <a:rPr lang="en-US" sz="2198" b="true">
                <a:solidFill>
                  <a:srgbClr val="38B6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23 min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5219700" y="2781300"/>
            <a:ext cx="2838450" cy="1076325"/>
          </a:xfrm>
          <a:custGeom>
            <a:avLst/>
            <a:gdLst/>
            <a:ahLst/>
            <a:cxnLst/>
            <a:rect r="r" b="b" t="t" l="l"/>
            <a:pathLst>
              <a:path h="1076325" w="2838450">
                <a:moveTo>
                  <a:pt x="0" y="0"/>
                </a:moveTo>
                <a:lnTo>
                  <a:pt x="2838450" y="0"/>
                </a:lnTo>
                <a:lnTo>
                  <a:pt x="2838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577840" y="3382339"/>
            <a:ext cx="694944" cy="300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4"/>
              </a:lnSpc>
            </a:pPr>
            <a:r>
              <a:rPr lang="en-US" sz="2198" b="true">
                <a:solidFill>
                  <a:srgbClr val="38B6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₹145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5219700" y="3638550"/>
            <a:ext cx="2838450" cy="1076325"/>
          </a:xfrm>
          <a:custGeom>
            <a:avLst/>
            <a:gdLst/>
            <a:ahLst/>
            <a:cxnLst/>
            <a:rect r="r" b="b" t="t" l="l"/>
            <a:pathLst>
              <a:path h="1076325" w="2838450">
                <a:moveTo>
                  <a:pt x="0" y="0"/>
                </a:moveTo>
                <a:lnTo>
                  <a:pt x="2838450" y="0"/>
                </a:lnTo>
                <a:lnTo>
                  <a:pt x="2838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219700" y="4495800"/>
            <a:ext cx="2838450" cy="1076325"/>
          </a:xfrm>
          <a:custGeom>
            <a:avLst/>
            <a:gdLst/>
            <a:ahLst/>
            <a:cxnLst/>
            <a:rect r="r" b="b" t="t" l="l"/>
            <a:pathLst>
              <a:path h="1076325" w="2838450">
                <a:moveTo>
                  <a:pt x="0" y="0"/>
                </a:moveTo>
                <a:lnTo>
                  <a:pt x="2838450" y="0"/>
                </a:lnTo>
                <a:lnTo>
                  <a:pt x="2838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577840" y="5089981"/>
            <a:ext cx="1024128" cy="300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4"/>
              </a:lnSpc>
            </a:pPr>
            <a:r>
              <a:rPr lang="en-US" sz="2198" b="true">
                <a:solidFill>
                  <a:srgbClr val="38B6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300 ms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5219700" y="5353050"/>
            <a:ext cx="2838450" cy="1504950"/>
          </a:xfrm>
          <a:custGeom>
            <a:avLst/>
            <a:gdLst/>
            <a:ahLst/>
            <a:cxnLst/>
            <a:rect r="r" b="b" t="t" l="l"/>
            <a:pathLst>
              <a:path h="1504950" w="2838450">
                <a:moveTo>
                  <a:pt x="0" y="0"/>
                </a:moveTo>
                <a:lnTo>
                  <a:pt x="2838450" y="0"/>
                </a:lnTo>
                <a:lnTo>
                  <a:pt x="28384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5577840" y="5945791"/>
            <a:ext cx="2816352" cy="599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7"/>
              </a:lnSpc>
            </a:pPr>
            <a:r>
              <a:rPr lang="en-US" sz="116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Selected route balances lower congestion and traffic signals to minimize total travel time and cost.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8048625" y="1066800"/>
            <a:ext cx="6105525" cy="5791200"/>
          </a:xfrm>
          <a:custGeom>
            <a:avLst/>
            <a:gdLst/>
            <a:ahLst/>
            <a:cxnLst/>
            <a:rect r="r" b="b" t="t" l="l"/>
            <a:pathLst>
              <a:path h="5791200" w="6105525">
                <a:moveTo>
                  <a:pt x="0" y="0"/>
                </a:moveTo>
                <a:lnTo>
                  <a:pt x="6105525" y="0"/>
                </a:lnTo>
                <a:lnTo>
                  <a:pt x="6105525" y="5791200"/>
                </a:lnTo>
                <a:lnTo>
                  <a:pt x="0" y="57912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267700" y="1285875"/>
            <a:ext cx="5019675" cy="4933950"/>
          </a:xfrm>
          <a:custGeom>
            <a:avLst/>
            <a:gdLst/>
            <a:ahLst/>
            <a:cxnLst/>
            <a:rect r="r" b="b" t="t" l="l"/>
            <a:pathLst>
              <a:path h="4933950" w="5019675">
                <a:moveTo>
                  <a:pt x="0" y="0"/>
                </a:moveTo>
                <a:lnTo>
                  <a:pt x="5019675" y="0"/>
                </a:lnTo>
                <a:lnTo>
                  <a:pt x="5019675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1753850" y="5143500"/>
            <a:ext cx="2181225" cy="1504950"/>
          </a:xfrm>
          <a:custGeom>
            <a:avLst/>
            <a:gdLst/>
            <a:ahLst/>
            <a:cxnLst/>
            <a:rect r="r" b="b" t="t" l="l"/>
            <a:pathLst>
              <a:path h="1504950" w="2181225">
                <a:moveTo>
                  <a:pt x="0" y="0"/>
                </a:moveTo>
                <a:lnTo>
                  <a:pt x="2181225" y="0"/>
                </a:lnTo>
                <a:lnTo>
                  <a:pt x="21812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972925" y="5781675"/>
            <a:ext cx="657225" cy="219075"/>
          </a:xfrm>
          <a:custGeom>
            <a:avLst/>
            <a:gdLst/>
            <a:ahLst/>
            <a:cxnLst/>
            <a:rect r="r" b="b" t="t" l="l"/>
            <a:pathLst>
              <a:path h="219075" w="657225">
                <a:moveTo>
                  <a:pt x="0" y="0"/>
                </a:moveTo>
                <a:lnTo>
                  <a:pt x="657225" y="0"/>
                </a:lnTo>
                <a:lnTo>
                  <a:pt x="6572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1972925" y="6000750"/>
            <a:ext cx="657225" cy="219075"/>
          </a:xfrm>
          <a:custGeom>
            <a:avLst/>
            <a:gdLst/>
            <a:ahLst/>
            <a:cxnLst/>
            <a:rect r="r" b="b" t="t" l="l"/>
            <a:pathLst>
              <a:path h="219075" w="657225">
                <a:moveTo>
                  <a:pt x="0" y="0"/>
                </a:moveTo>
                <a:lnTo>
                  <a:pt x="657225" y="0"/>
                </a:lnTo>
                <a:lnTo>
                  <a:pt x="6572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1972925" y="6210300"/>
            <a:ext cx="657225" cy="219075"/>
          </a:xfrm>
          <a:custGeom>
            <a:avLst/>
            <a:gdLst/>
            <a:ahLst/>
            <a:cxnLst/>
            <a:rect r="r" b="b" t="t" l="l"/>
            <a:pathLst>
              <a:path h="219075" w="657225">
                <a:moveTo>
                  <a:pt x="0" y="0"/>
                </a:moveTo>
                <a:lnTo>
                  <a:pt x="657225" y="0"/>
                </a:lnTo>
                <a:lnTo>
                  <a:pt x="6572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4363700" y="1714500"/>
            <a:ext cx="3057525" cy="1285875"/>
          </a:xfrm>
          <a:custGeom>
            <a:avLst/>
            <a:gdLst/>
            <a:ahLst/>
            <a:cxnLst/>
            <a:rect r="r" b="b" t="t" l="l"/>
            <a:pathLst>
              <a:path h="1285875" w="3057525">
                <a:moveTo>
                  <a:pt x="0" y="0"/>
                </a:moveTo>
                <a:lnTo>
                  <a:pt x="3057525" y="0"/>
                </a:lnTo>
                <a:lnTo>
                  <a:pt x="30575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4363700" y="1924050"/>
            <a:ext cx="447675" cy="438150"/>
          </a:xfrm>
          <a:custGeom>
            <a:avLst/>
            <a:gdLst/>
            <a:ahLst/>
            <a:cxnLst/>
            <a:rect r="r" b="b" t="t" l="l"/>
            <a:pathLst>
              <a:path h="438150" w="447675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4363700" y="3000375"/>
            <a:ext cx="3057525" cy="1285875"/>
          </a:xfrm>
          <a:custGeom>
            <a:avLst/>
            <a:gdLst/>
            <a:ahLst/>
            <a:cxnLst/>
            <a:rect r="r" b="b" t="t" l="l"/>
            <a:pathLst>
              <a:path h="1285875" w="3057525">
                <a:moveTo>
                  <a:pt x="0" y="0"/>
                </a:moveTo>
                <a:lnTo>
                  <a:pt x="3057525" y="0"/>
                </a:lnTo>
                <a:lnTo>
                  <a:pt x="30575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4363700" y="3209925"/>
            <a:ext cx="447675" cy="438150"/>
          </a:xfrm>
          <a:custGeom>
            <a:avLst/>
            <a:gdLst/>
            <a:ahLst/>
            <a:cxnLst/>
            <a:rect r="r" b="b" t="t" l="l"/>
            <a:pathLst>
              <a:path h="438150" w="447675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4363700" y="4286250"/>
            <a:ext cx="3057525" cy="1285875"/>
          </a:xfrm>
          <a:custGeom>
            <a:avLst/>
            <a:gdLst/>
            <a:ahLst/>
            <a:cxnLst/>
            <a:rect r="r" b="b" t="t" l="l"/>
            <a:pathLst>
              <a:path h="1285875" w="3057525">
                <a:moveTo>
                  <a:pt x="0" y="0"/>
                </a:moveTo>
                <a:lnTo>
                  <a:pt x="3057525" y="0"/>
                </a:lnTo>
                <a:lnTo>
                  <a:pt x="30575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4363700" y="4495800"/>
            <a:ext cx="447675" cy="438150"/>
          </a:xfrm>
          <a:custGeom>
            <a:avLst/>
            <a:gdLst/>
            <a:ahLst/>
            <a:cxnLst/>
            <a:rect r="r" b="b" t="t" l="l"/>
            <a:pathLst>
              <a:path h="438150" w="447675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4410944" y="1378101"/>
            <a:ext cx="1938528" cy="193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9"/>
              </a:lnSpc>
            </a:pPr>
            <a:r>
              <a:rPr lang="en-US" sz="1471" b="true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ROUTE COMPARISON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340096" y="7293370"/>
            <a:ext cx="6217920" cy="235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5"/>
              </a:lnSpc>
            </a:pPr>
            <a:r>
              <a:rPr lang="en-US" sz="1689" b="true">
                <a:solidFill>
                  <a:srgbClr val="38B6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EXAMPLERUNTIME OUTPUT FROM THE DEPLOYED SYSTEM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285232" y="9792867"/>
            <a:ext cx="6419088" cy="193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9"/>
              </a:lnSpc>
            </a:pPr>
            <a:r>
              <a:rPr lang="en-US" sz="1471" b="true">
                <a:solidFill>
                  <a:srgbClr val="38B6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Values are illustrative and from simulated environment, not real-world results.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758416" y="2046756"/>
            <a:ext cx="1444752" cy="193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9"/>
              </a:lnSpc>
            </a:pPr>
            <a:r>
              <a:rPr lang="en-US" sz="1471" b="true">
                <a:solidFill>
                  <a:srgbClr val="38B6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DQN (Selected)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758416" y="2509671"/>
            <a:ext cx="2267712" cy="193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9"/>
              </a:lnSpc>
            </a:pPr>
            <a:r>
              <a:rPr lang="en-US" sz="147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12.7 km   •  23 min   •  • 145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758416" y="3353205"/>
            <a:ext cx="329184" cy="193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9"/>
              </a:lnSpc>
            </a:pPr>
            <a:r>
              <a:rPr lang="en-US" sz="1471" b="true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A*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758416" y="3816120"/>
            <a:ext cx="2267712" cy="193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9"/>
              </a:lnSpc>
            </a:pPr>
            <a:r>
              <a:rPr lang="en-US" sz="147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12.3 km   •  24 min   •  • 148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758416" y="4628793"/>
            <a:ext cx="768096" cy="193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9"/>
              </a:lnSpc>
            </a:pPr>
            <a:r>
              <a:rPr lang="en-US" sz="1471" b="true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Dijkstra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758416" y="5091708"/>
            <a:ext cx="2267712" cy="193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9"/>
              </a:lnSpc>
            </a:pPr>
            <a:r>
              <a:rPr lang="en-US" sz="147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12.5 km   •  25 min   •  • 150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577840" y="4215586"/>
            <a:ext cx="329184" cy="300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4"/>
              </a:lnSpc>
            </a:pPr>
            <a:r>
              <a:rPr lang="en-US" sz="2198" b="true">
                <a:solidFill>
                  <a:srgbClr val="38B6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16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577840" y="2275332"/>
            <a:ext cx="1444752" cy="160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5"/>
              </a:lnSpc>
            </a:pPr>
            <a:r>
              <a:rPr lang="en-US" sz="1125" b="true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ESTIMATED TIME (ETA)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577840" y="3149441"/>
            <a:ext cx="1353312" cy="16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5"/>
              </a:lnSpc>
            </a:pPr>
            <a:r>
              <a:rPr lang="en-US" sz="1162" b="true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OPERATIONAL COST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577840" y="4003262"/>
            <a:ext cx="1463040" cy="16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5"/>
              </a:lnSpc>
            </a:pPr>
            <a:r>
              <a:rPr lang="en-US" sz="1162" b="true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ROUTE STEPS (NODES)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577840" y="4877943"/>
            <a:ext cx="1901952" cy="160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5"/>
              </a:lnSpc>
            </a:pPr>
            <a:r>
              <a:rPr lang="en-US" sz="1125" b="true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ALGORITHM EXECUTION TIME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577840" y="5685377"/>
            <a:ext cx="1499616" cy="149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4"/>
              </a:lnSpc>
            </a:pPr>
            <a:r>
              <a:rPr lang="en-US" sz="1087" b="true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AI ROUTE EXPLANATION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106656" y="5515451"/>
            <a:ext cx="1609344" cy="16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5"/>
              </a:lnSpc>
            </a:pPr>
            <a:r>
              <a:rPr lang="en-US" sz="1162" b="true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TRAFFIC CONDITIONS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637008" y="5824061"/>
            <a:ext cx="310896" cy="16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5"/>
              </a:lnSpc>
            </a:pPr>
            <a:r>
              <a:rPr lang="en-US" sz="1162" b="true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LOW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637008" y="6070949"/>
            <a:ext cx="768096" cy="16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5"/>
              </a:lnSpc>
            </a:pPr>
            <a:r>
              <a:rPr lang="en-US" sz="1162" b="true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MODERATE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637008" y="6328124"/>
            <a:ext cx="347472" cy="16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5"/>
              </a:lnSpc>
            </a:pPr>
            <a:r>
              <a:rPr lang="en-US" sz="1162" b="true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NIGH</a:t>
            </a:r>
          </a:p>
        </p:txBody>
      </p:sp>
      <p:sp>
        <p:nvSpPr>
          <p:cNvPr name="Freeform 52" id="52"/>
          <p:cNvSpPr/>
          <p:nvPr/>
        </p:nvSpPr>
        <p:spPr>
          <a:xfrm flipH="false" flipV="false" rot="0">
            <a:off x="129557" y="8094400"/>
            <a:ext cx="2232834" cy="2232834"/>
          </a:xfrm>
          <a:custGeom>
            <a:avLst/>
            <a:gdLst/>
            <a:ahLst/>
            <a:cxnLst/>
            <a:rect r="r" b="b" t="t" l="l"/>
            <a:pathLst>
              <a:path h="2232834" w="2232834">
                <a:moveTo>
                  <a:pt x="0" y="0"/>
                </a:moveTo>
                <a:lnTo>
                  <a:pt x="2232834" y="0"/>
                </a:lnTo>
                <a:lnTo>
                  <a:pt x="2232834" y="2232834"/>
                </a:lnTo>
                <a:lnTo>
                  <a:pt x="0" y="2232834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534775" y="2143125"/>
            <a:ext cx="1314450" cy="3648075"/>
          </a:xfrm>
          <a:custGeom>
            <a:avLst/>
            <a:gdLst/>
            <a:ahLst/>
            <a:cxnLst/>
            <a:rect r="r" b="b" t="t" l="l"/>
            <a:pathLst>
              <a:path h="3648075" w="1314450">
                <a:moveTo>
                  <a:pt x="0" y="0"/>
                </a:moveTo>
                <a:lnTo>
                  <a:pt x="1314450" y="0"/>
                </a:lnTo>
                <a:lnTo>
                  <a:pt x="1314450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58775" y="4286250"/>
            <a:ext cx="5019675" cy="3648075"/>
          </a:xfrm>
          <a:custGeom>
            <a:avLst/>
            <a:gdLst/>
            <a:ahLst/>
            <a:cxnLst/>
            <a:rect r="r" b="b" t="t" l="l"/>
            <a:pathLst>
              <a:path h="3648075" w="5019675">
                <a:moveTo>
                  <a:pt x="0" y="0"/>
                </a:moveTo>
                <a:lnTo>
                  <a:pt x="5019675" y="0"/>
                </a:lnTo>
                <a:lnTo>
                  <a:pt x="5019675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31520" y="3346829"/>
            <a:ext cx="6510528" cy="480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0"/>
              </a:lnSpc>
            </a:pPr>
            <a:r>
              <a:rPr lang="en-US" sz="281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We built an </a:t>
            </a:r>
            <a:r>
              <a:rPr lang="en-US" sz="2814" b="true">
                <a:solidFill>
                  <a:srgbClr val="00A1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intelligent taxi routing</a:t>
            </a:r>
            <a:r>
              <a:rPr lang="en-US" sz="281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platform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1520" y="4087493"/>
            <a:ext cx="6364224" cy="480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0"/>
              </a:lnSpc>
            </a:pPr>
            <a:r>
              <a:rPr lang="en-US" sz="281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Classical algorithms set a </a:t>
            </a:r>
            <a:r>
              <a:rPr lang="en-US" sz="2814" b="true">
                <a:solidFill>
                  <a:srgbClr val="00A1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strong baseline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31520" y="4889879"/>
            <a:ext cx="6912864" cy="480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0"/>
              </a:lnSpc>
            </a:pPr>
            <a:r>
              <a:rPr lang="en-US" sz="281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DQN brings </a:t>
            </a:r>
            <a:r>
              <a:rPr lang="en-US" sz="2814" b="true">
                <a:solidFill>
                  <a:srgbClr val="00A1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reinforcement learning</a:t>
            </a:r>
            <a:r>
              <a:rPr lang="en-US" sz="281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to routing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31520" y="5692265"/>
            <a:ext cx="8284464" cy="480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0"/>
              </a:lnSpc>
            </a:pPr>
            <a:r>
              <a:rPr lang="en-US" sz="281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End-to-end system with </a:t>
            </a:r>
            <a:r>
              <a:rPr lang="en-US" sz="2814" b="true">
                <a:solidFill>
                  <a:srgbClr val="00A1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simulation, AI, and dashboard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1520" y="6597521"/>
            <a:ext cx="7571232" cy="480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0"/>
              </a:lnSpc>
            </a:pPr>
            <a:r>
              <a:rPr lang="en-US" sz="281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 modular architecture ready for </a:t>
            </a:r>
            <a:r>
              <a:rPr lang="en-US" sz="2814" b="true">
                <a:solidFill>
                  <a:srgbClr val="00A1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future innovation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47700" y="7715250"/>
            <a:ext cx="10239375" cy="1933575"/>
          </a:xfrm>
          <a:custGeom>
            <a:avLst/>
            <a:gdLst/>
            <a:ahLst/>
            <a:cxnLst/>
            <a:rect r="r" b="b" t="t" l="l"/>
            <a:pathLst>
              <a:path h="1933575" w="10239375">
                <a:moveTo>
                  <a:pt x="0" y="0"/>
                </a:moveTo>
                <a:lnTo>
                  <a:pt x="10239375" y="0"/>
                </a:lnTo>
                <a:lnTo>
                  <a:pt x="102393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16736" y="8424400"/>
            <a:ext cx="4023360" cy="732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81"/>
              </a:lnSpc>
            </a:pPr>
            <a:r>
              <a:rPr lang="en-US" sz="5605" b="true">
                <a:solidFill>
                  <a:srgbClr val="00A1FF"/>
                </a:solidFill>
                <a:latin typeface="Roboto Bold"/>
                <a:ea typeface="Roboto Bold"/>
                <a:cs typeface="Roboto Bold"/>
                <a:sym typeface="Roboto Bold"/>
              </a:rPr>
              <a:t>THANK YOU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5657850" y="8143875"/>
            <a:ext cx="228600" cy="1285875"/>
          </a:xfrm>
          <a:custGeom>
            <a:avLst/>
            <a:gdLst/>
            <a:ahLst/>
            <a:cxnLst/>
            <a:rect r="r" b="b" t="t" l="l"/>
            <a:pathLst>
              <a:path h="1285875" w="228600">
                <a:moveTo>
                  <a:pt x="0" y="0"/>
                </a:moveTo>
                <a:lnTo>
                  <a:pt x="228600" y="0"/>
                </a:lnTo>
                <a:lnTo>
                  <a:pt x="2286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199632" y="8450629"/>
            <a:ext cx="3877056" cy="670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28"/>
              </a:lnSpc>
            </a:pPr>
            <a:r>
              <a:rPr lang="en-US" sz="513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QUESTIONS?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31520" y="901785"/>
            <a:ext cx="7845552" cy="2049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62"/>
              </a:lnSpc>
            </a:pPr>
            <a:r>
              <a:rPr lang="en-US" sz="8190" b="true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CONCLUSION &amp; </a:t>
            </a:r>
            <a:r>
              <a:rPr lang="en-US" sz="8190" b="true">
                <a:solidFill>
                  <a:srgbClr val="00A1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FUTURE SCOPE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138160" y="0"/>
            <a:ext cx="3762772" cy="1836229"/>
            <a:chOff x="0" y="0"/>
            <a:chExt cx="3122905" cy="1523975"/>
          </a:xfrm>
        </p:grpSpPr>
        <p:sp>
          <p:nvSpPr>
            <p:cNvPr name="Freeform 16" id="16" descr="logoctu.png"/>
            <p:cNvSpPr/>
            <p:nvPr/>
          </p:nvSpPr>
          <p:spPr>
            <a:xfrm flipH="false" flipV="false" rot="0">
              <a:off x="0" y="0"/>
              <a:ext cx="312293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122930">
                  <a:moveTo>
                    <a:pt x="0" y="0"/>
                  </a:moveTo>
                  <a:lnTo>
                    <a:pt x="3122930" y="0"/>
                  </a:lnTo>
                  <a:lnTo>
                    <a:pt x="312293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DAHU-DzVGkw</dc:identifier>
  <dcterms:modified xsi:type="dcterms:W3CDTF">2011-08-01T06:04:30Z</dcterms:modified>
  <cp:revision>1</cp:revision>
  <dc:title>SUB,MITTED TO - MS.KHUSHI RATTAN(IBM)</dc:title>
</cp:coreProperties>
</file>