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19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35.png" Type="http://schemas.openxmlformats.org/officeDocument/2006/relationships/image"/><Relationship Id="rId20" Target="../media/image53.png" Type="http://schemas.openxmlformats.org/officeDocument/2006/relationships/image"/><Relationship Id="rId21" Target="../media/image54.png" Type="http://schemas.openxmlformats.org/officeDocument/2006/relationships/image"/><Relationship Id="rId22" Target="../media/image55.png" Type="http://schemas.openxmlformats.org/officeDocument/2006/relationships/image"/><Relationship Id="rId23" Target="../media/image19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9.png" Type="http://schemas.openxmlformats.org/officeDocument/2006/relationships/image"/><Relationship Id="rId16" Target="../media/image70.png" Type="http://schemas.openxmlformats.org/officeDocument/2006/relationships/image"/><Relationship Id="rId17" Target="../media/image71.png" Type="http://schemas.openxmlformats.org/officeDocument/2006/relationships/image"/><Relationship Id="rId18" Target="../media/image72.png" Type="http://schemas.openxmlformats.org/officeDocument/2006/relationships/image"/><Relationship Id="rId19" Target="../media/image73.png" Type="http://schemas.openxmlformats.org/officeDocument/2006/relationships/image"/><Relationship Id="rId2" Target="../media/image56.png" Type="http://schemas.openxmlformats.org/officeDocument/2006/relationships/image"/><Relationship Id="rId20" Target="../media/image74.png" Type="http://schemas.openxmlformats.org/officeDocument/2006/relationships/image"/><Relationship Id="rId21" Target="../media/image75.png" Type="http://schemas.openxmlformats.org/officeDocument/2006/relationships/image"/><Relationship Id="rId22" Target="../media/image76.png" Type="http://schemas.openxmlformats.org/officeDocument/2006/relationships/image"/><Relationship Id="rId23" Target="../media/image77.png" Type="http://schemas.openxmlformats.org/officeDocument/2006/relationships/image"/><Relationship Id="rId24" Target="../media/image78.png" Type="http://schemas.openxmlformats.org/officeDocument/2006/relationships/image"/><Relationship Id="rId25" Target="../media/image79.png" Type="http://schemas.openxmlformats.org/officeDocument/2006/relationships/image"/><Relationship Id="rId26" Target="../media/image80.png" Type="http://schemas.openxmlformats.org/officeDocument/2006/relationships/image"/><Relationship Id="rId27" Target="../media/image81.png" Type="http://schemas.openxmlformats.org/officeDocument/2006/relationships/image"/><Relationship Id="rId28" Target="../media/image82.png" Type="http://schemas.openxmlformats.org/officeDocument/2006/relationships/image"/><Relationship Id="rId29" Target="../media/image83.png" Type="http://schemas.openxmlformats.org/officeDocument/2006/relationships/image"/><Relationship Id="rId3" Target="../media/image57.png" Type="http://schemas.openxmlformats.org/officeDocument/2006/relationships/image"/><Relationship Id="rId30" Target="../media/image19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15" Target="../media/image97.png" Type="http://schemas.openxmlformats.org/officeDocument/2006/relationships/image"/><Relationship Id="rId16" Target="../media/image19.png" Type="http://schemas.openxmlformats.org/officeDocument/2006/relationships/image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16" Target="../media/image114.png" Type="http://schemas.openxmlformats.org/officeDocument/2006/relationships/image"/><Relationship Id="rId17" Target="../media/image19.png" Type="http://schemas.openxmlformats.org/officeDocument/2006/relationships/image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20" Target="../media/image133.png" Type="http://schemas.openxmlformats.org/officeDocument/2006/relationships/image"/><Relationship Id="rId21" Target="../media/image134.png" Type="http://schemas.openxmlformats.org/officeDocument/2006/relationships/image"/><Relationship Id="rId22" Target="../media/image135.png" Type="http://schemas.openxmlformats.org/officeDocument/2006/relationships/image"/><Relationship Id="rId23" Target="../media/image19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6.png" Type="http://schemas.openxmlformats.org/officeDocument/2006/relationships/image"/><Relationship Id="rId3" Target="../media/image137.png" Type="http://schemas.openxmlformats.org/officeDocument/2006/relationships/image"/><Relationship Id="rId4" Target="../media/image138.png" Type="http://schemas.openxmlformats.org/officeDocument/2006/relationships/image"/><Relationship Id="rId5" Target="../media/image139.png" Type="http://schemas.openxmlformats.org/officeDocument/2006/relationships/image"/><Relationship Id="rId6" Target="../media/image140.pn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2775" y="1924050"/>
            <a:ext cx="1095375" cy="1724025"/>
          </a:xfrm>
          <a:custGeom>
            <a:avLst/>
            <a:gdLst/>
            <a:ahLst/>
            <a:cxnLst/>
            <a:rect r="r" b="b" t="t" l="l"/>
            <a:pathLst>
              <a:path h="1724025" w="1095375">
                <a:moveTo>
                  <a:pt x="0" y="0"/>
                </a:moveTo>
                <a:lnTo>
                  <a:pt x="1095375" y="0"/>
                </a:lnTo>
                <a:lnTo>
                  <a:pt x="1095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9850" y="5572125"/>
            <a:ext cx="3924300" cy="3219450"/>
          </a:xfrm>
          <a:custGeom>
            <a:avLst/>
            <a:gdLst/>
            <a:ahLst/>
            <a:cxnLst/>
            <a:rect r="r" b="b" t="t" l="l"/>
            <a:pathLst>
              <a:path h="3219450" w="3924300">
                <a:moveTo>
                  <a:pt x="0" y="0"/>
                </a:moveTo>
                <a:lnTo>
                  <a:pt x="3924300" y="0"/>
                </a:lnTo>
                <a:lnTo>
                  <a:pt x="3924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538170"/>
            <a:ext cx="6419088" cy="114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4"/>
              </a:lnSpc>
            </a:pPr>
            <a:r>
              <a:rPr lang="en-US" sz="8624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INTELLIGENT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3886" y="5780508"/>
            <a:ext cx="8091366" cy="42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06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Optimizing Taxi Routes using </a:t>
            </a:r>
            <a:r>
              <a:rPr lang="en-US" sz="3067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DQN, Dijkstra &amp; A*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552" y="7921244"/>
            <a:ext cx="8066268" cy="43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322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Jashandeep Singh </a:t>
            </a:r>
            <a:r>
              <a:rPr lang="en-US" sz="3220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72510438(CTU2500040)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1785" y="8427574"/>
            <a:ext cx="9577915" cy="4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97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Harshpreet Singh Malhi  —  </a:t>
            </a:r>
            <a:r>
              <a:rPr lang="en-US" sz="2973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72520287(CTU2502005)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6384" y="1622072"/>
            <a:ext cx="7479792" cy="22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3"/>
              </a:lnSpc>
            </a:pPr>
            <a:r>
              <a:rPr lang="en-US" sz="8753" b="true">
                <a:solidFill>
                  <a:srgbClr val="0085D4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TAXI ROUTE OPTIMIZATION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585" y="3863238"/>
            <a:ext cx="8668512" cy="163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606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USING REINFORCEMENT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552" y="6655982"/>
            <a:ext cx="7401555" cy="99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6"/>
              </a:lnSpc>
            </a:pPr>
            <a:r>
              <a:rPr lang="en-US" sz="286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TO - MS.KHUSHI RATTAN(IBM)</a:t>
            </a:r>
          </a:p>
          <a:p>
            <a:pPr algn="ctr">
              <a:lnSpc>
                <a:spcPts val="4006"/>
              </a:lnSpc>
            </a:pPr>
            <a:r>
              <a:rPr lang="en-US" sz="286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BY-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681262" y="0"/>
            <a:ext cx="4406989" cy="2150607"/>
            <a:chOff x="0" y="0"/>
            <a:chExt cx="3122905" cy="1523975"/>
          </a:xfrm>
        </p:grpSpPr>
        <p:sp>
          <p:nvSpPr>
            <p:cNvPr name="Freeform 13" id="13" descr="logoctu.png"/>
            <p:cNvSpPr/>
            <p:nvPr/>
          </p:nvSpPr>
          <p:spPr>
            <a:xfrm flipH="false" flipV="false" rot="0">
              <a:off x="0" y="0"/>
              <a:ext cx="312293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22930">
                  <a:moveTo>
                    <a:pt x="0" y="0"/>
                  </a:moveTo>
                  <a:lnTo>
                    <a:pt x="3122930" y="0"/>
                  </a:lnTo>
                  <a:lnTo>
                    <a:pt x="312293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758808"/>
            <a:ext cx="512064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sz="919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797795"/>
            <a:ext cx="676656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sz="9191" b="true">
                <a:solidFill>
                  <a:srgbClr val="00A4E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3593890"/>
            <a:ext cx="5010912" cy="8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Taxi routing must balance distance, time, traffic, and operational cost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4931200"/>
            <a:ext cx="4846320" cy="8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Traditional shortest-path methods rely on fixed, static costs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" y="6186041"/>
            <a:ext cx="4315968" cy="9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Traffic conditions are dynamic and unpredictable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944" y="7605123"/>
            <a:ext cx="4645152" cy="133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5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Reinforcement learning enables </a:t>
            </a:r>
            <a:r>
              <a:rPr lang="en-US" sz="2533" b="true">
                <a:solidFill>
                  <a:srgbClr val="00A4E0"/>
                </a:solidFill>
                <a:latin typeface="Roboto Bold"/>
                <a:ea typeface="Roboto Bold"/>
                <a:cs typeface="Roboto Bold"/>
                <a:sym typeface="Roboto Bold"/>
              </a:rPr>
              <a:t>adaptive</a:t>
            </a:r>
            <a:r>
              <a:rPr lang="en-US" sz="25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route decisions through </a:t>
            </a:r>
            <a:r>
              <a:rPr lang="en-US" sz="2533" b="true">
                <a:solidFill>
                  <a:srgbClr val="00A4E0"/>
                </a:solidFill>
                <a:latin typeface="Roboto Bold"/>
                <a:ea typeface="Roboto Bold"/>
                <a:cs typeface="Roboto Bold"/>
                <a:sym typeface="Roboto Bold"/>
              </a:rPr>
              <a:t>environment interaction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05550" y="3429000"/>
            <a:ext cx="2190750" cy="4714875"/>
          </a:xfrm>
          <a:custGeom>
            <a:avLst/>
            <a:gdLst/>
            <a:ahLst/>
            <a:cxnLst/>
            <a:rect r="r" b="b" t="t" l="l"/>
            <a:pathLst>
              <a:path h="4714875" w="2190750">
                <a:moveTo>
                  <a:pt x="0" y="0"/>
                </a:moveTo>
                <a:lnTo>
                  <a:pt x="2190750" y="0"/>
                </a:lnTo>
                <a:lnTo>
                  <a:pt x="219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05550" y="3638550"/>
            <a:ext cx="2190750" cy="3438525"/>
          </a:xfrm>
          <a:custGeom>
            <a:avLst/>
            <a:gdLst/>
            <a:ahLst/>
            <a:cxnLst/>
            <a:rect r="r" b="b" t="t" l="l"/>
            <a:pathLst>
              <a:path h="3438525" w="2190750">
                <a:moveTo>
                  <a:pt x="0" y="0"/>
                </a:moveTo>
                <a:lnTo>
                  <a:pt x="2190750" y="0"/>
                </a:lnTo>
                <a:lnTo>
                  <a:pt x="2190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6775" y="3429000"/>
            <a:ext cx="2181225" cy="4714875"/>
          </a:xfrm>
          <a:custGeom>
            <a:avLst/>
            <a:gdLst/>
            <a:ahLst/>
            <a:cxnLst/>
            <a:rect r="r" b="b" t="t" l="l"/>
            <a:pathLst>
              <a:path h="4714875" w="2181225">
                <a:moveTo>
                  <a:pt x="0" y="0"/>
                </a:moveTo>
                <a:lnTo>
                  <a:pt x="2181225" y="0"/>
                </a:lnTo>
                <a:lnTo>
                  <a:pt x="21812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5850" y="3638550"/>
            <a:ext cx="1962150" cy="3438525"/>
          </a:xfrm>
          <a:custGeom>
            <a:avLst/>
            <a:gdLst/>
            <a:ahLst/>
            <a:cxnLst/>
            <a:rect r="r" b="b" t="t" l="l"/>
            <a:pathLst>
              <a:path h="3438525" w="1962150">
                <a:moveTo>
                  <a:pt x="0" y="0"/>
                </a:moveTo>
                <a:lnTo>
                  <a:pt x="1962150" y="0"/>
                </a:lnTo>
                <a:lnTo>
                  <a:pt x="19621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70848" y="7138118"/>
            <a:ext cx="1298448" cy="60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b="true" sz="21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ROAD NETWORK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48925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77550" y="3429000"/>
            <a:ext cx="2190750" cy="4714875"/>
          </a:xfrm>
          <a:custGeom>
            <a:avLst/>
            <a:gdLst/>
            <a:ahLst/>
            <a:cxnLst/>
            <a:rect r="r" b="b" t="t" l="l"/>
            <a:pathLst>
              <a:path h="4714875" w="2190750">
                <a:moveTo>
                  <a:pt x="0" y="0"/>
                </a:moveTo>
                <a:lnTo>
                  <a:pt x="2190750" y="0"/>
                </a:lnTo>
                <a:lnTo>
                  <a:pt x="219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77550" y="3638550"/>
            <a:ext cx="2190750" cy="3438525"/>
          </a:xfrm>
          <a:custGeom>
            <a:avLst/>
            <a:gdLst/>
            <a:ahLst/>
            <a:cxnLst/>
            <a:rect r="r" b="b" t="t" l="l"/>
            <a:pathLst>
              <a:path h="3438525" w="2190750">
                <a:moveTo>
                  <a:pt x="0" y="0"/>
                </a:moveTo>
                <a:lnTo>
                  <a:pt x="2190750" y="0"/>
                </a:lnTo>
                <a:lnTo>
                  <a:pt x="2190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92256" y="7157526"/>
            <a:ext cx="1572768" cy="5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b="true" sz="209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TRAFFIC CONDITIONS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58775" y="3429000"/>
            <a:ext cx="2181225" cy="4714875"/>
          </a:xfrm>
          <a:custGeom>
            <a:avLst/>
            <a:gdLst/>
            <a:ahLst/>
            <a:cxnLst/>
            <a:rect r="r" b="b" t="t" l="l"/>
            <a:pathLst>
              <a:path h="4714875" w="2181225">
                <a:moveTo>
                  <a:pt x="0" y="0"/>
                </a:moveTo>
                <a:lnTo>
                  <a:pt x="2181225" y="0"/>
                </a:lnTo>
                <a:lnTo>
                  <a:pt x="21812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277850" y="3638550"/>
            <a:ext cx="1962150" cy="3438525"/>
          </a:xfrm>
          <a:custGeom>
            <a:avLst/>
            <a:gdLst/>
            <a:ahLst/>
            <a:cxnLst/>
            <a:rect r="r" b="b" t="t" l="l"/>
            <a:pathLst>
              <a:path h="3438525" w="1962150">
                <a:moveTo>
                  <a:pt x="0" y="0"/>
                </a:moveTo>
                <a:lnTo>
                  <a:pt x="1962150" y="0"/>
                </a:lnTo>
                <a:lnTo>
                  <a:pt x="19621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42848" y="7138118"/>
            <a:ext cx="1225296" cy="60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b="true" sz="21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ROUTE DECISION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20625" y="514350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49550" y="3429000"/>
            <a:ext cx="2190750" cy="4714875"/>
          </a:xfrm>
          <a:custGeom>
            <a:avLst/>
            <a:gdLst/>
            <a:ahLst/>
            <a:cxnLst/>
            <a:rect r="r" b="b" t="t" l="l"/>
            <a:pathLst>
              <a:path h="4714875" w="2190750">
                <a:moveTo>
                  <a:pt x="0" y="0"/>
                </a:moveTo>
                <a:lnTo>
                  <a:pt x="2190750" y="0"/>
                </a:lnTo>
                <a:lnTo>
                  <a:pt x="219075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49550" y="3638550"/>
            <a:ext cx="2190750" cy="3438525"/>
          </a:xfrm>
          <a:custGeom>
            <a:avLst/>
            <a:gdLst/>
            <a:ahLst/>
            <a:cxnLst/>
            <a:rect r="r" b="b" t="t" l="l"/>
            <a:pathLst>
              <a:path h="3438525" w="2190750">
                <a:moveTo>
                  <a:pt x="0" y="0"/>
                </a:moveTo>
                <a:lnTo>
                  <a:pt x="2190750" y="0"/>
                </a:lnTo>
                <a:lnTo>
                  <a:pt x="21907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709392" y="7229189"/>
            <a:ext cx="168249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b="true" sz="206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DESTINATION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020925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077456" y="7211568"/>
            <a:ext cx="603504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b="true" sz="217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TAXI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135066" y="-19975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770638"/>
            <a:ext cx="6711696" cy="126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4"/>
              </a:lnSpc>
            </a:pPr>
            <a:r>
              <a:rPr lang="en-US" b="true" sz="9564" spc="-191">
                <a:solidFill>
                  <a:srgbClr val="0085CD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34290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128" y="5867519"/>
            <a:ext cx="1572768" cy="217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9"/>
              </a:lnSpc>
            </a:pPr>
            <a:r>
              <a:rPr lang="en-US" sz="2306" spc="-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an intelligent taxi route optimization system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0480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7550" y="34290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11296" y="5886932"/>
            <a:ext cx="1335024" cy="166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7"/>
              </a:lnSpc>
            </a:pPr>
            <a:r>
              <a:rPr lang="en-US" sz="2245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Compare Dijkstra, A* and DQN algorithms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38775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38775" y="3638550"/>
            <a:ext cx="2181225" cy="1724025"/>
          </a:xfrm>
          <a:custGeom>
            <a:avLst/>
            <a:gdLst/>
            <a:ahLst/>
            <a:cxnLst/>
            <a:rect r="r" b="b" t="t" l="l"/>
            <a:pathLst>
              <a:path h="1724025" w="2181225">
                <a:moveTo>
                  <a:pt x="0" y="0"/>
                </a:moveTo>
                <a:lnTo>
                  <a:pt x="2181225" y="0"/>
                </a:lnTo>
                <a:lnTo>
                  <a:pt x="21812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88736" y="5800746"/>
            <a:ext cx="1572768" cy="184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1971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Incorporate simulated dynamic traffic conditions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29550" y="2781300"/>
            <a:ext cx="2409825" cy="6010275"/>
          </a:xfrm>
          <a:custGeom>
            <a:avLst/>
            <a:gdLst/>
            <a:ahLst/>
            <a:cxnLst/>
            <a:rect r="r" b="b" t="t" l="l"/>
            <a:pathLst>
              <a:path h="6010275" w="2409825">
                <a:moveTo>
                  <a:pt x="0" y="0"/>
                </a:moveTo>
                <a:lnTo>
                  <a:pt x="2409825" y="0"/>
                </a:lnTo>
                <a:lnTo>
                  <a:pt x="2409825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48625" y="3209925"/>
            <a:ext cx="1971675" cy="2362200"/>
          </a:xfrm>
          <a:custGeom>
            <a:avLst/>
            <a:gdLst/>
            <a:ahLst/>
            <a:cxnLst/>
            <a:rect r="r" b="b" t="t" l="l"/>
            <a:pathLst>
              <a:path h="2362200" w="1971675">
                <a:moveTo>
                  <a:pt x="0" y="0"/>
                </a:moveTo>
                <a:lnTo>
                  <a:pt x="1971675" y="0"/>
                </a:lnTo>
                <a:lnTo>
                  <a:pt x="1971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74736" y="5890751"/>
            <a:ext cx="1773936" cy="213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275" spc="-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 multiple objectives: cost, distance, travel time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29850" y="2781300"/>
            <a:ext cx="2619375" cy="6010275"/>
          </a:xfrm>
          <a:custGeom>
            <a:avLst/>
            <a:gdLst/>
            <a:ahLst/>
            <a:cxnLst/>
            <a:rect r="r" b="b" t="t" l="l"/>
            <a:pathLst>
              <a:path h="6010275" w="2619375">
                <a:moveTo>
                  <a:pt x="0" y="0"/>
                </a:moveTo>
                <a:lnTo>
                  <a:pt x="2619375" y="0"/>
                </a:lnTo>
                <a:lnTo>
                  <a:pt x="2619375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877550" y="3638550"/>
            <a:ext cx="1533525" cy="1724025"/>
          </a:xfrm>
          <a:custGeom>
            <a:avLst/>
            <a:gdLst/>
            <a:ahLst/>
            <a:cxnLst/>
            <a:rect r="r" b="b" t="t" l="l"/>
            <a:pathLst>
              <a:path h="1724025" w="1533525">
                <a:moveTo>
                  <a:pt x="0" y="0"/>
                </a:moveTo>
                <a:lnTo>
                  <a:pt x="1533525" y="0"/>
                </a:lnTo>
                <a:lnTo>
                  <a:pt x="1533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52176" y="5890751"/>
            <a:ext cx="1993392" cy="213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275" spc="-4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 comparative route analysis and quantitative evaluation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397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058775" y="363855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313664" y="6324279"/>
            <a:ext cx="1444752" cy="82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3" spc="-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a web-based interactive dashboard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240000" y="2781300"/>
            <a:ext cx="2400300" cy="6010275"/>
          </a:xfrm>
          <a:custGeom>
            <a:avLst/>
            <a:gdLst/>
            <a:ahLst/>
            <a:cxnLst/>
            <a:rect r="r" b="b" t="t" l="l"/>
            <a:pathLst>
              <a:path h="6010275" w="2400300">
                <a:moveTo>
                  <a:pt x="0" y="0"/>
                </a:moveTo>
                <a:lnTo>
                  <a:pt x="2400300" y="0"/>
                </a:lnTo>
                <a:lnTo>
                  <a:pt x="24003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49550" y="3638550"/>
            <a:ext cx="1971675" cy="1724025"/>
          </a:xfrm>
          <a:custGeom>
            <a:avLst/>
            <a:gdLst/>
            <a:ahLst/>
            <a:cxnLst/>
            <a:rect r="r" b="b" t="t" l="l"/>
            <a:pathLst>
              <a:path h="1724025" w="1971675">
                <a:moveTo>
                  <a:pt x="0" y="0"/>
                </a:moveTo>
                <a:lnTo>
                  <a:pt x="1971675" y="0"/>
                </a:lnTo>
                <a:lnTo>
                  <a:pt x="197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471648" y="5798984"/>
            <a:ext cx="2084832" cy="231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458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 training analytics for the reinforcement learning model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6055166" y="0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2730038"/>
            <a:ext cx="8284464" cy="40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30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end-to-end flow of the intelligent taxi route optimization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3429000"/>
            <a:ext cx="2190750" cy="3648075"/>
          </a:xfrm>
          <a:custGeom>
            <a:avLst/>
            <a:gdLst/>
            <a:ahLst/>
            <a:cxnLst/>
            <a:rect r="r" b="b" t="t" l="l"/>
            <a:pathLst>
              <a:path h="3648075" w="2190750">
                <a:moveTo>
                  <a:pt x="0" y="0"/>
                </a:moveTo>
                <a:lnTo>
                  <a:pt x="2190750" y="0"/>
                </a:lnTo>
                <a:lnTo>
                  <a:pt x="2190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36385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8448" y="4733273"/>
            <a:ext cx="585216" cy="3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21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416" y="5732791"/>
            <a:ext cx="1133856" cy="55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2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trip request preferences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28925" y="3429000"/>
            <a:ext cx="2181225" cy="3648075"/>
          </a:xfrm>
          <a:custGeom>
            <a:avLst/>
            <a:gdLst/>
            <a:ahLst/>
            <a:cxnLst/>
            <a:rect r="r" b="b" t="t" l="l"/>
            <a:pathLst>
              <a:path h="3648075" w="2181225">
                <a:moveTo>
                  <a:pt x="0" y="0"/>
                </a:moveTo>
                <a:lnTo>
                  <a:pt x="2181225" y="0"/>
                </a:lnTo>
                <a:lnTo>
                  <a:pt x="2181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7550" y="363855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55264" y="4750799"/>
            <a:ext cx="1389888" cy="66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sz="224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Next.js + TypeScript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28416" y="5732657"/>
            <a:ext cx="1261872" cy="55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178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web interface visualization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9700" y="3429000"/>
            <a:ext cx="2190750" cy="3648075"/>
          </a:xfrm>
          <a:custGeom>
            <a:avLst/>
            <a:gdLst/>
            <a:ahLst/>
            <a:cxnLst/>
            <a:rect r="r" b="b" t="t" l="l"/>
            <a:pathLst>
              <a:path h="3648075" w="2190750">
                <a:moveTo>
                  <a:pt x="0" y="0"/>
                </a:moveTo>
                <a:lnTo>
                  <a:pt x="2190750" y="0"/>
                </a:lnTo>
                <a:lnTo>
                  <a:pt x="2190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57850" y="3638550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15584" y="4770552"/>
            <a:ext cx="1097280" cy="61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7"/>
              </a:lnSpc>
            </a:pPr>
            <a:r>
              <a:rPr lang="en-US" sz="202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FastAPI REST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96128" y="5732590"/>
            <a:ext cx="1536192" cy="55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76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request handling data exchange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20000" y="3429000"/>
            <a:ext cx="2619375" cy="3648075"/>
          </a:xfrm>
          <a:custGeom>
            <a:avLst/>
            <a:gdLst/>
            <a:ahLst/>
            <a:cxnLst/>
            <a:rect r="r" b="b" t="t" l="l"/>
            <a:pathLst>
              <a:path h="3648075" w="2619375">
                <a:moveTo>
                  <a:pt x="0" y="0"/>
                </a:moveTo>
                <a:lnTo>
                  <a:pt x="2619375" y="0"/>
                </a:lnTo>
                <a:lnTo>
                  <a:pt x="2619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36992" y="3794058"/>
            <a:ext cx="2048256" cy="23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b="true" sz="135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ROUTING &amp;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85632" y="4521586"/>
            <a:ext cx="950976" cy="11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0"/>
              </a:lnSpc>
            </a:pPr>
            <a:r>
              <a:rPr lang="en-US" sz="2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Dijkstra</a:t>
            </a:r>
          </a:p>
          <a:p>
            <a:pPr algn="ctr">
              <a:lnSpc>
                <a:spcPts val="3010"/>
              </a:lnSpc>
            </a:pPr>
            <a:r>
              <a:rPr lang="en-US" sz="2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A*</a:t>
            </a:r>
          </a:p>
          <a:p>
            <a:pPr algn="ctr">
              <a:lnSpc>
                <a:spcPts val="3010"/>
              </a:lnSpc>
            </a:pPr>
            <a:r>
              <a:rPr lang="en-US" sz="21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DQN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66176" y="5873658"/>
            <a:ext cx="1426464" cy="55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92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dynamic state interactions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448925" y="3429000"/>
            <a:ext cx="2400300" cy="3648075"/>
          </a:xfrm>
          <a:custGeom>
            <a:avLst/>
            <a:gdLst/>
            <a:ahLst/>
            <a:cxnLst/>
            <a:rect r="r" b="b" t="t" l="l"/>
            <a:pathLst>
              <a:path h="3648075" w="2400300">
                <a:moveTo>
                  <a:pt x="0" y="0"/>
                </a:moveTo>
                <a:lnTo>
                  <a:pt x="2400300" y="0"/>
                </a:lnTo>
                <a:lnTo>
                  <a:pt x="24003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877550" y="3638550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625328" y="4789803"/>
            <a:ext cx="1938528" cy="58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196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Taxi Environment Road Network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89920" y="5779411"/>
            <a:ext cx="1261872" cy="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"/>
              </a:lnSpc>
            </a:pPr>
            <a:r>
              <a:rPr lang="en-US" sz="150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route planning decision making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839700" y="3429000"/>
            <a:ext cx="2619375" cy="3648075"/>
          </a:xfrm>
          <a:custGeom>
            <a:avLst/>
            <a:gdLst/>
            <a:ahLst/>
            <a:cxnLst/>
            <a:rect r="r" b="b" t="t" l="l"/>
            <a:pathLst>
              <a:path h="3648075" w="2619375">
                <a:moveTo>
                  <a:pt x="0" y="0"/>
                </a:moveTo>
                <a:lnTo>
                  <a:pt x="2619375" y="0"/>
                </a:lnTo>
                <a:lnTo>
                  <a:pt x="2619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203936" y="4809155"/>
            <a:ext cx="1938528" cy="54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86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Traffic Simulation Route Metrics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85648" y="5760696"/>
            <a:ext cx="1993392" cy="49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6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performance evaluation feedback loop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68625" y="3429000"/>
            <a:ext cx="1971675" cy="3648075"/>
          </a:xfrm>
          <a:custGeom>
            <a:avLst/>
            <a:gdLst/>
            <a:ahLst/>
            <a:cxnLst/>
            <a:rect r="r" b="b" t="t" l="l"/>
            <a:pathLst>
              <a:path h="3648075" w="1971675">
                <a:moveTo>
                  <a:pt x="0" y="0"/>
                </a:moveTo>
                <a:lnTo>
                  <a:pt x="1971675" y="0"/>
                </a:lnTo>
                <a:lnTo>
                  <a:pt x="1971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106775" y="36385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038576" y="4789502"/>
            <a:ext cx="1280160" cy="59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20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Results Dashboard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11728" y="5751305"/>
            <a:ext cx="1170432" cy="51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8"/>
              </a:lnSpc>
            </a:pPr>
            <a:r>
              <a:rPr lang="en-US" sz="165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insights visual reports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390775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781550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181850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010775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620625" y="49244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240000" y="49244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21792" y="7268117"/>
            <a:ext cx="2670048" cy="3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TECHNOLOGY STACK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428625" y="7496175"/>
            <a:ext cx="17211675" cy="2362200"/>
          </a:xfrm>
          <a:custGeom>
            <a:avLst/>
            <a:gdLst/>
            <a:ahLst/>
            <a:cxnLst/>
            <a:rect r="r" b="b" t="t" l="l"/>
            <a:pathLst>
              <a:path h="2362200" w="17211675">
                <a:moveTo>
                  <a:pt x="0" y="0"/>
                </a:moveTo>
                <a:lnTo>
                  <a:pt x="17211675" y="0"/>
                </a:lnTo>
                <a:lnTo>
                  <a:pt x="17211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27632" y="8003625"/>
            <a:ext cx="2212848" cy="63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2463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OpenStreetMap</a:t>
            </a:r>
          </a:p>
          <a:p>
            <a:pPr algn="ctr">
              <a:lnSpc>
                <a:spcPts val="2463"/>
              </a:lnSpc>
            </a:pPr>
            <a:r>
              <a:rPr lang="en-US" sz="2463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+ Leaflet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29968" y="8865168"/>
            <a:ext cx="1353312" cy="5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209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maps &amp; visualization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4572000" y="7715250"/>
            <a:ext cx="219075" cy="1933575"/>
          </a:xfrm>
          <a:custGeom>
            <a:avLst/>
            <a:gdLst/>
            <a:ahLst/>
            <a:cxnLst/>
            <a:rect r="r" b="b" t="t" l="l"/>
            <a:pathLst>
              <a:path h="1933575" w="2190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998464" y="8004965"/>
            <a:ext cx="1572768" cy="62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7"/>
              </a:lnSpc>
            </a:pPr>
            <a:r>
              <a:rPr lang="en-US" sz="2357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Python</a:t>
            </a:r>
          </a:p>
          <a:p>
            <a:pPr algn="ctr">
              <a:lnSpc>
                <a:spcPts val="2357"/>
              </a:lnSpc>
            </a:pPr>
            <a:r>
              <a:rPr lang="en-US" sz="2357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+ NetworkX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21792" y="758487"/>
            <a:ext cx="7516368" cy="204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1"/>
              </a:lnSpc>
            </a:pPr>
            <a:r>
              <a:rPr lang="en-US" sz="8624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SYSTEM </a:t>
            </a:r>
            <a:r>
              <a:rPr lang="en-US" sz="862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ARCHITECTURE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9888" y="3794474"/>
            <a:ext cx="420624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2"/>
              </a:lnSpc>
            </a:pPr>
            <a:r>
              <a:rPr lang="en-US" b="true" sz="1387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USER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93008" y="3790128"/>
            <a:ext cx="877824" cy="24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b="true" sz="142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FRONTEND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25312" y="3795724"/>
            <a:ext cx="877824" cy="23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b="true" sz="1485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API LAYER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91088" y="3790128"/>
            <a:ext cx="1188720" cy="24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8"/>
              </a:lnSpc>
            </a:pPr>
            <a:r>
              <a:rPr lang="en-US" b="true" sz="142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ENVIRONMENT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240512" y="3794058"/>
            <a:ext cx="1847088" cy="23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b="true" sz="135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SIMULATION &amp; METRICS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31184" y="3776258"/>
            <a:ext cx="658368" cy="2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b="true" sz="145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OUTPUT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70448" y="8855285"/>
            <a:ext cx="1865376" cy="59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sz="214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graph modeling network analysis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47504" y="8014936"/>
            <a:ext cx="2670048" cy="60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sz="2322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PyTorch</a:t>
            </a:r>
          </a:p>
          <a:p>
            <a:pPr algn="ctr">
              <a:lnSpc>
                <a:spcPts val="2322"/>
              </a:lnSpc>
            </a:pPr>
            <a:r>
              <a:rPr lang="en-US" sz="2322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+ Stable-Baselines3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57232" y="8865168"/>
            <a:ext cx="2468880" cy="5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209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deep learning reinforcement learning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666976" y="8060978"/>
            <a:ext cx="1536192" cy="31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"/>
              </a:lnSpc>
            </a:pPr>
            <a:r>
              <a:rPr lang="en-US" sz="2252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Gymnasium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66976" y="8834711"/>
            <a:ext cx="1536192" cy="59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sz="214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simulation environments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640" y="963006"/>
            <a:ext cx="7680960" cy="116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7"/>
              </a:lnSpc>
            </a:pPr>
            <a:r>
              <a:rPr lang="en-US" b="true" sz="8817" spc="-26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METHO</a:t>
            </a:r>
            <a:r>
              <a:rPr lang="en-US" b="true" sz="8817" spc="-264">
                <a:solidFill>
                  <a:srgbClr val="0079E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640" y="2198305"/>
            <a:ext cx="7479792" cy="147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spc="-84" b="true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A stepwise framework that integrates classical routing algorithms with deep reinforcement learning to recommend </a:t>
            </a:r>
            <a:r>
              <a:rPr lang="en-US" sz="2814" spc="-84" b="true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optimal taxi routes.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4286250"/>
            <a:ext cx="2190750" cy="4933950"/>
          </a:xfrm>
          <a:custGeom>
            <a:avLst/>
            <a:gdLst/>
            <a:ahLst/>
            <a:cxnLst/>
            <a:rect r="r" b="b" t="t" l="l"/>
            <a:pathLst>
              <a:path h="4933950" w="2190750">
                <a:moveTo>
                  <a:pt x="0" y="0"/>
                </a:moveTo>
                <a:lnTo>
                  <a:pt x="2190750" y="0"/>
                </a:lnTo>
                <a:lnTo>
                  <a:pt x="2190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85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3312" y="4165747"/>
            <a:ext cx="182880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944" y="5093565"/>
            <a:ext cx="1572768" cy="7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b="true" sz="2053" spc="-61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Input pickup and destination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6210300"/>
            <a:ext cx="1533525" cy="2581275"/>
          </a:xfrm>
          <a:custGeom>
            <a:avLst/>
            <a:gdLst/>
            <a:ahLst/>
            <a:cxnLst/>
            <a:rect r="r" b="b" t="t" l="l"/>
            <a:pathLst>
              <a:path h="2581275" w="1533525">
                <a:moveTo>
                  <a:pt x="0" y="0"/>
                </a:moveTo>
                <a:lnTo>
                  <a:pt x="1533525" y="0"/>
                </a:lnTo>
                <a:lnTo>
                  <a:pt x="15335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9850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57550" y="40671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72384" y="5121063"/>
            <a:ext cx="1188720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Construct / load road network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828925" y="6429375"/>
            <a:ext cx="1743075" cy="2362200"/>
          </a:xfrm>
          <a:custGeom>
            <a:avLst/>
            <a:gdLst/>
            <a:ahLst/>
            <a:cxnLst/>
            <a:rect r="r" b="b" t="t" l="l"/>
            <a:pathLst>
              <a:path h="2362200" w="1743075">
                <a:moveTo>
                  <a:pt x="0" y="0"/>
                </a:moveTo>
                <a:lnTo>
                  <a:pt x="1743075" y="0"/>
                </a:lnTo>
                <a:lnTo>
                  <a:pt x="17430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81550" y="4286250"/>
            <a:ext cx="2190750" cy="4933950"/>
          </a:xfrm>
          <a:custGeom>
            <a:avLst/>
            <a:gdLst/>
            <a:ahLst/>
            <a:cxnLst/>
            <a:rect r="r" b="b" t="t" l="l"/>
            <a:pathLst>
              <a:path h="4933950" w="2190750">
                <a:moveTo>
                  <a:pt x="0" y="0"/>
                </a:moveTo>
                <a:lnTo>
                  <a:pt x="2190750" y="0"/>
                </a:lnTo>
                <a:lnTo>
                  <a:pt x="2190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38775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705856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48656" y="5084338"/>
            <a:ext cx="1298448" cy="71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Apply traffic conditions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81550" y="6210300"/>
            <a:ext cx="2190750" cy="3009900"/>
          </a:xfrm>
          <a:custGeom>
            <a:avLst/>
            <a:gdLst/>
            <a:ahLst/>
            <a:cxnLst/>
            <a:rect r="r" b="b" t="t" l="l"/>
            <a:pathLst>
              <a:path h="3009900" w="2190750">
                <a:moveTo>
                  <a:pt x="0" y="0"/>
                </a:moveTo>
                <a:lnTo>
                  <a:pt x="2190750" y="0"/>
                </a:lnTo>
                <a:lnTo>
                  <a:pt x="2190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62775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2000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78624" y="5121063"/>
            <a:ext cx="1572768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Calculate route using classical algorithms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4286250"/>
            <a:ext cx="2400300" cy="4933950"/>
          </a:xfrm>
          <a:custGeom>
            <a:avLst/>
            <a:gdLst/>
            <a:ahLst/>
            <a:cxnLst/>
            <a:rect r="r" b="b" t="t" l="l"/>
            <a:pathLst>
              <a:path h="4933950" w="240030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91700" y="4067175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09760" y="5121063"/>
            <a:ext cx="1682496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Let DQN interact with taxi environment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144000" y="6210300"/>
            <a:ext cx="2400300" cy="3009900"/>
          </a:xfrm>
          <a:custGeom>
            <a:avLst/>
            <a:gdLst/>
            <a:ahLst/>
            <a:cxnLst/>
            <a:rect r="r" b="b" t="t" l="l"/>
            <a:pathLst>
              <a:path h="3009900" w="2400300">
                <a:moveTo>
                  <a:pt x="0" y="0"/>
                </a:moveTo>
                <a:lnTo>
                  <a:pt x="2400300" y="0"/>
                </a:lnTo>
                <a:lnTo>
                  <a:pt x="24003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34775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19200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740896" y="5120914"/>
            <a:ext cx="1627632" cy="99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2053" spc="-61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Calculate distance, ETA, operational cost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32336" y="7375764"/>
            <a:ext cx="1444752" cy="124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b="true" sz="2498" spc="-74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ETA Operational Cost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096625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16000" y="4286250"/>
            <a:ext cx="2181225" cy="4933950"/>
          </a:xfrm>
          <a:custGeom>
            <a:avLst/>
            <a:gdLst/>
            <a:ahLst/>
            <a:cxnLst/>
            <a:rect r="r" b="b" t="t" l="l"/>
            <a:pathLst>
              <a:path h="4933950" w="2181225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6370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209776" y="5121063"/>
            <a:ext cx="1097280" cy="99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2076" spc="-62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Compare algorithm results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925550" y="6858000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277850" y="66389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887700" y="4286250"/>
            <a:ext cx="1971675" cy="4933950"/>
          </a:xfrm>
          <a:custGeom>
            <a:avLst/>
            <a:gdLst/>
            <a:ahLst/>
            <a:cxnLst/>
            <a:rect r="r" b="b" t="t" l="l"/>
            <a:pathLst>
              <a:path h="4933950" w="1971675">
                <a:moveTo>
                  <a:pt x="0" y="0"/>
                </a:moveTo>
                <a:lnTo>
                  <a:pt x="1971675" y="0"/>
                </a:lnTo>
                <a:lnTo>
                  <a:pt x="19716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325850" y="4067175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770096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38576" y="5124575"/>
            <a:ext cx="1627632" cy="133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029" spc="-60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Recommend algorithm based on optimization objective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21456" y="7383540"/>
            <a:ext cx="1335024" cy="84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b="true" sz="2744" spc="-82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Best Algorithm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5449550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171700" y="66389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572000" y="663892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743700" y="66389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589520" y="6782732"/>
            <a:ext cx="1005840" cy="4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b="true" sz="2593" spc="-77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Dijkstra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00416" y="7413837"/>
            <a:ext cx="365760" cy="42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</a:pPr>
            <a:r>
              <a:rPr lang="en-US" b="true" sz="2561" spc="-7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A*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529584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55280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22992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72416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30400" y="4165747"/>
            <a:ext cx="256032" cy="6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015216" y="6791051"/>
            <a:ext cx="1078992" cy="42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b="true" sz="2498" spc="-74">
                <a:solidFill>
                  <a:srgbClr val="0079E7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Distance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668187"/>
            <a:ext cx="6510528" cy="168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1"/>
              </a:lnSpc>
            </a:pPr>
            <a:r>
              <a:rPr lang="en-US" sz="650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REINFORCEMENT LEARNING &amp; </a:t>
            </a:r>
            <a:r>
              <a:rPr lang="en-US" sz="6501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DQN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0352" y="3053513"/>
            <a:ext cx="4773168" cy="92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DQN </a:t>
            </a:r>
            <a:r>
              <a:rPr lang="en-US" sz="2639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learns</a:t>
            </a:r>
            <a:r>
              <a:rPr lang="en-US" sz="26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choose the best route through trial and feedback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352" y="4277041"/>
            <a:ext cx="4407408" cy="148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observes the current </a:t>
            </a:r>
            <a:r>
              <a:rPr lang="en-US" sz="2814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state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takes an </a:t>
            </a:r>
            <a:r>
              <a:rPr lang="en-US" sz="2814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action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and receives a </a:t>
            </a:r>
            <a:r>
              <a:rPr lang="en-US" sz="2814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reward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352" y="6072807"/>
            <a:ext cx="4864608" cy="133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5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agent </a:t>
            </a:r>
            <a:r>
              <a:rPr lang="en-US" sz="2568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improves</a:t>
            </a:r>
            <a:r>
              <a:rPr lang="en-US" sz="25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its policy to select routing actions that minimize time, distance, and cost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8143875"/>
            <a:ext cx="17430750" cy="1933575"/>
          </a:xfrm>
          <a:custGeom>
            <a:avLst/>
            <a:gdLst/>
            <a:ahLst/>
            <a:cxnLst/>
            <a:rect r="r" b="b" t="t" l="l"/>
            <a:pathLst>
              <a:path h="1933575" w="17430750">
                <a:moveTo>
                  <a:pt x="0" y="0"/>
                </a:moveTo>
                <a:lnTo>
                  <a:pt x="17430750" y="0"/>
                </a:lnTo>
                <a:lnTo>
                  <a:pt x="17430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4128" y="8520208"/>
            <a:ext cx="2414016" cy="3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NEURAL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9103804"/>
            <a:ext cx="25603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approximates Q-values for state-action pairs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352925" y="8353425"/>
            <a:ext cx="219075" cy="1295400"/>
          </a:xfrm>
          <a:custGeom>
            <a:avLst/>
            <a:gdLst/>
            <a:ahLst/>
            <a:cxnLst/>
            <a:rect r="r" b="b" t="t" l="l"/>
            <a:pathLst>
              <a:path h="1295400" w="219075">
                <a:moveTo>
                  <a:pt x="0" y="0"/>
                </a:moveTo>
                <a:lnTo>
                  <a:pt x="219075" y="0"/>
                </a:lnTo>
                <a:lnTo>
                  <a:pt x="219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38928" y="8524256"/>
            <a:ext cx="2633472" cy="38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1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EXPERIENCE REPLAY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8928" y="8960930"/>
            <a:ext cx="331012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stores past experiences and samples for stable learning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24925" y="8353425"/>
            <a:ext cx="219075" cy="1295400"/>
          </a:xfrm>
          <a:custGeom>
            <a:avLst/>
            <a:gdLst/>
            <a:ahLst/>
            <a:cxnLst/>
            <a:rect r="r" b="b" t="t" l="l"/>
            <a:pathLst>
              <a:path h="1295400" w="219075">
                <a:moveTo>
                  <a:pt x="0" y="0"/>
                </a:moveTo>
                <a:lnTo>
                  <a:pt x="219075" y="0"/>
                </a:lnTo>
                <a:lnTo>
                  <a:pt x="219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64624" y="8529376"/>
            <a:ext cx="2340864" cy="38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TARGET NETWORK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64624" y="8970455"/>
            <a:ext cx="23957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uses delayed updates to stabilize training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39700" y="8353425"/>
            <a:ext cx="228600" cy="1295400"/>
          </a:xfrm>
          <a:custGeom>
            <a:avLst/>
            <a:gdLst/>
            <a:ahLst/>
            <a:cxnLst/>
            <a:rect r="r" b="b" t="t" l="l"/>
            <a:pathLst>
              <a:path h="1295400" w="2286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587984" y="8515802"/>
            <a:ext cx="1115568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0085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Q-VALUE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7984" y="8960930"/>
            <a:ext cx="309067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expected return of an action from a given state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181850" y="1285875"/>
            <a:ext cx="2619375" cy="2143125"/>
          </a:xfrm>
          <a:custGeom>
            <a:avLst/>
            <a:gdLst/>
            <a:ahLst/>
            <a:cxnLst/>
            <a:rect r="r" b="b" t="t" l="l"/>
            <a:pathLst>
              <a:path h="2143125" w="2619375">
                <a:moveTo>
                  <a:pt x="0" y="0"/>
                </a:moveTo>
                <a:lnTo>
                  <a:pt x="2619375" y="0"/>
                </a:lnTo>
                <a:lnTo>
                  <a:pt x="2619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791700" y="428625"/>
            <a:ext cx="3057525" cy="2143125"/>
          </a:xfrm>
          <a:custGeom>
            <a:avLst/>
            <a:gdLst/>
            <a:ahLst/>
            <a:cxnLst/>
            <a:rect r="r" b="b" t="t" l="l"/>
            <a:pathLst>
              <a:path h="2143125" w="3057525">
                <a:moveTo>
                  <a:pt x="0" y="0"/>
                </a:moveTo>
                <a:lnTo>
                  <a:pt x="3057525" y="0"/>
                </a:lnTo>
                <a:lnTo>
                  <a:pt x="305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16768" y="825913"/>
            <a:ext cx="1042416" cy="4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2"/>
              </a:lnSpc>
            </a:pPr>
            <a:r>
              <a:rPr lang="en-US" b="true" sz="2737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STATE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04704" y="1364696"/>
            <a:ext cx="2029968" cy="96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current location, destination, and traffic environment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620625" y="1285875"/>
            <a:ext cx="2619375" cy="2143125"/>
          </a:xfrm>
          <a:custGeom>
            <a:avLst/>
            <a:gdLst/>
            <a:ahLst/>
            <a:cxnLst/>
            <a:rect r="r" b="b" t="t" l="l"/>
            <a:pathLst>
              <a:path h="2143125" w="2619375">
                <a:moveTo>
                  <a:pt x="0" y="0"/>
                </a:moveTo>
                <a:lnTo>
                  <a:pt x="2619375" y="0"/>
                </a:lnTo>
                <a:lnTo>
                  <a:pt x="2619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16000" y="3209925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593824" y="3726847"/>
            <a:ext cx="1261872" cy="48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2"/>
              </a:lnSpc>
            </a:pPr>
            <a:r>
              <a:rPr lang="en-US" b="true" sz="2737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20672" y="4330256"/>
            <a:ext cx="13533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 next road or node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20625" y="5353050"/>
            <a:ext cx="2619375" cy="2152650"/>
          </a:xfrm>
          <a:custGeom>
            <a:avLst/>
            <a:gdLst/>
            <a:ahLst/>
            <a:cxnLst/>
            <a:rect r="r" b="b" t="t" l="l"/>
            <a:pathLst>
              <a:path h="2152650" w="2619375">
                <a:moveTo>
                  <a:pt x="0" y="0"/>
                </a:moveTo>
                <a:lnTo>
                  <a:pt x="2619375" y="0"/>
                </a:lnTo>
                <a:lnTo>
                  <a:pt x="2619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572625" y="6210300"/>
            <a:ext cx="3276600" cy="1933575"/>
          </a:xfrm>
          <a:custGeom>
            <a:avLst/>
            <a:gdLst/>
            <a:ahLst/>
            <a:cxnLst/>
            <a:rect r="r" b="b" t="t" l="l"/>
            <a:pathLst>
              <a:path h="1933575" w="3276600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131552" y="6606349"/>
            <a:ext cx="2231136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2475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ENVIRONMENT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96144" y="7138606"/>
            <a:ext cx="18836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real-world traffic and road network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181850" y="5572125"/>
            <a:ext cx="2619375" cy="1714500"/>
          </a:xfrm>
          <a:custGeom>
            <a:avLst/>
            <a:gdLst/>
            <a:ahLst/>
            <a:cxnLst/>
            <a:rect r="r" b="b" t="t" l="l"/>
            <a:pathLst>
              <a:path h="1714500" w="2619375">
                <a:moveTo>
                  <a:pt x="0" y="0"/>
                </a:moveTo>
                <a:lnTo>
                  <a:pt x="2619375" y="0"/>
                </a:lnTo>
                <a:lnTo>
                  <a:pt x="2619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876925" y="3209925"/>
            <a:ext cx="2838450" cy="2581275"/>
          </a:xfrm>
          <a:custGeom>
            <a:avLst/>
            <a:gdLst/>
            <a:ahLst/>
            <a:cxnLst/>
            <a:rect r="r" b="b" t="t" l="l"/>
            <a:pathLst>
              <a:path h="2581275" w="2838450">
                <a:moveTo>
                  <a:pt x="0" y="0"/>
                </a:moveTo>
                <a:lnTo>
                  <a:pt x="2838450" y="0"/>
                </a:lnTo>
                <a:lnTo>
                  <a:pt x="2838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656832" y="3531870"/>
            <a:ext cx="142646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4"/>
              </a:lnSpc>
            </a:pPr>
            <a:r>
              <a:rPr lang="en-US" b="true" sz="2775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REWARD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91072" y="4081370"/>
            <a:ext cx="2194560" cy="139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sz="200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positive for efficient movement, penalize extra distance, time, cost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572625" y="3209925"/>
            <a:ext cx="3276600" cy="2152650"/>
          </a:xfrm>
          <a:custGeom>
            <a:avLst/>
            <a:gdLst/>
            <a:ahLst/>
            <a:cxnLst/>
            <a:rect r="r" b="b" t="t" l="l"/>
            <a:pathLst>
              <a:path h="2152650" w="3276600">
                <a:moveTo>
                  <a:pt x="0" y="0"/>
                </a:moveTo>
                <a:lnTo>
                  <a:pt x="3276600" y="0"/>
                </a:lnTo>
                <a:lnTo>
                  <a:pt x="3276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186416" y="5467541"/>
            <a:ext cx="20116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28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DQN AGENT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758808"/>
            <a:ext cx="585216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b="true" sz="9191" spc="-18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CLASSICAL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656" y="1818369"/>
            <a:ext cx="5852160" cy="12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b="true" sz="9191" spc="-183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BASELINES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429000"/>
            <a:ext cx="16992600" cy="6219825"/>
          </a:xfrm>
          <a:custGeom>
            <a:avLst/>
            <a:gdLst/>
            <a:ahLst/>
            <a:cxnLst/>
            <a:rect r="r" b="b" t="t" l="l"/>
            <a:pathLst>
              <a:path h="6219825" w="16992600">
                <a:moveTo>
                  <a:pt x="0" y="0"/>
                </a:moveTo>
                <a:lnTo>
                  <a:pt x="16992600" y="0"/>
                </a:lnTo>
                <a:lnTo>
                  <a:pt x="1699260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5024" y="3793522"/>
            <a:ext cx="192024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4336" y="3793522"/>
            <a:ext cx="91440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61504" y="3793522"/>
            <a:ext cx="2798064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MAIN PRINCIPLE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39728" y="3793522"/>
            <a:ext cx="1883664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STRENGTH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68144" y="3793522"/>
            <a:ext cx="1975104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b="true" sz="2962" spc="-59">
                <a:solidFill>
                  <a:srgbClr val="FFFFFF"/>
                </a:solidFill>
                <a:latin typeface="IBM Plex Sans Condensed Medium"/>
                <a:ea typeface="IBM Plex Sans Condensed Medium"/>
                <a:cs typeface="IBM Plex Sans Condensed Medium"/>
                <a:sym typeface="IBM Plex Sans Condensed Medium"/>
              </a:rPr>
              <a:t>LIMITATION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5024" y="5107266"/>
            <a:ext cx="1682496" cy="54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4023" spc="-80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Dijkstra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51376" y="4869942"/>
            <a:ext cx="202996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Exact</a:t>
            </a:r>
          </a:p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shortest-path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79792" y="4869942"/>
            <a:ext cx="184708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 heuristic needed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5680" y="4869942"/>
            <a:ext cx="124358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Reliable baseline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02384" y="4671822"/>
            <a:ext cx="268833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Computationally intensive on large graphs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024" y="6851216"/>
            <a:ext cx="548640" cy="52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3969" spc="-79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A*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51376" y="6608445"/>
            <a:ext cx="21031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Heuristic guided 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79792" y="6608445"/>
            <a:ext cx="252374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Uses heuristic to prune search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55680" y="6608445"/>
            <a:ext cx="21031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Efficient with good heuristic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02384" y="6608445"/>
            <a:ext cx="234086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Depends on heuristic quality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5024" y="8481402"/>
            <a:ext cx="1024128" cy="54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4023" spc="-80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DQN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1376" y="8529637"/>
            <a:ext cx="234086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Learning-based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9792" y="8233791"/>
            <a:ext cx="309067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Learns routing policy by interaction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55680" y="8233791"/>
            <a:ext cx="276148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Adapts to dynamic environments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02384" y="8233791"/>
            <a:ext cx="263347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Requires training, less predictable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3857625"/>
            <a:ext cx="885825" cy="4076700"/>
          </a:xfrm>
          <a:custGeom>
            <a:avLst/>
            <a:gdLst/>
            <a:ahLst/>
            <a:cxnLst/>
            <a:rect r="r" b="b" t="t" l="l"/>
            <a:pathLst>
              <a:path h="4076700" w="885825">
                <a:moveTo>
                  <a:pt x="0" y="0"/>
                </a:moveTo>
                <a:lnTo>
                  <a:pt x="885825" y="0"/>
                </a:lnTo>
                <a:lnTo>
                  <a:pt x="885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5850" y="3000375"/>
            <a:ext cx="5229225" cy="3219450"/>
          </a:xfrm>
          <a:custGeom>
            <a:avLst/>
            <a:gdLst/>
            <a:ahLst/>
            <a:cxnLst/>
            <a:rect r="r" b="b" t="t" l="l"/>
            <a:pathLst>
              <a:path h="3219450" w="5229225">
                <a:moveTo>
                  <a:pt x="0" y="0"/>
                </a:moveTo>
                <a:lnTo>
                  <a:pt x="5229225" y="0"/>
                </a:lnTo>
                <a:lnTo>
                  <a:pt x="5229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2496" y="3524315"/>
            <a:ext cx="1847088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2496" y="4113502"/>
            <a:ext cx="1847088" cy="176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Next.js TypeScript Tailwind CSS Leafet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133850" y="3857625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05550" y="3000375"/>
            <a:ext cx="5457825" cy="3219450"/>
          </a:xfrm>
          <a:custGeom>
            <a:avLst/>
            <a:gdLst/>
            <a:ahLst/>
            <a:cxnLst/>
            <a:rect r="r" b="b" t="t" l="l"/>
            <a:pathLst>
              <a:path h="3219450" w="5457825">
                <a:moveTo>
                  <a:pt x="0" y="0"/>
                </a:moveTo>
                <a:lnTo>
                  <a:pt x="5457825" y="0"/>
                </a:lnTo>
                <a:lnTo>
                  <a:pt x="5457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31152" y="3524315"/>
            <a:ext cx="1664208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1152" y="4111026"/>
            <a:ext cx="1170432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FastAPI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Python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REST API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72625" y="3857625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53850" y="3000375"/>
            <a:ext cx="5448300" cy="3219450"/>
          </a:xfrm>
          <a:custGeom>
            <a:avLst/>
            <a:gdLst/>
            <a:ahLst/>
            <a:cxnLst/>
            <a:rect r="r" b="b" t="t" l="l"/>
            <a:pathLst>
              <a:path h="3219450" w="5448300">
                <a:moveTo>
                  <a:pt x="0" y="0"/>
                </a:moveTo>
                <a:lnTo>
                  <a:pt x="5448300" y="0"/>
                </a:lnTo>
                <a:lnTo>
                  <a:pt x="5448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26112" y="3524315"/>
            <a:ext cx="1097280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AI / 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26112" y="4111026"/>
            <a:ext cx="2176272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PyTorch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Stable-Baselines3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Gymnasium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020925" y="3638550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5850" y="6210300"/>
            <a:ext cx="5229225" cy="3219450"/>
          </a:xfrm>
          <a:custGeom>
            <a:avLst/>
            <a:gdLst/>
            <a:ahLst/>
            <a:cxnLst/>
            <a:rect r="r" b="b" t="t" l="l"/>
            <a:pathLst>
              <a:path h="3219450" w="5229225">
                <a:moveTo>
                  <a:pt x="0" y="0"/>
                </a:moveTo>
                <a:lnTo>
                  <a:pt x="5229225" y="0"/>
                </a:lnTo>
                <a:lnTo>
                  <a:pt x="5229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82496" y="6805868"/>
            <a:ext cx="1536192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ROUTING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2496" y="7402866"/>
            <a:ext cx="1261872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NetworkX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Dijkstra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A*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133850" y="68580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05550" y="6210300"/>
            <a:ext cx="5457825" cy="3219450"/>
          </a:xfrm>
          <a:custGeom>
            <a:avLst/>
            <a:gdLst/>
            <a:ahLst/>
            <a:cxnLst/>
            <a:rect r="r" b="b" t="t" l="l"/>
            <a:pathLst>
              <a:path h="3219450" w="5457825">
                <a:moveTo>
                  <a:pt x="0" y="0"/>
                </a:moveTo>
                <a:lnTo>
                  <a:pt x="5457825" y="0"/>
                </a:lnTo>
                <a:lnTo>
                  <a:pt x="5457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31152" y="6805868"/>
            <a:ext cx="2194560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MAPS &amp;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31152" y="7416617"/>
            <a:ext cx="2578608" cy="129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2343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OpenStreetMap</a:t>
            </a:r>
          </a:p>
          <a:p>
            <a:pPr algn="l">
              <a:lnSpc>
                <a:spcPts val="3515"/>
              </a:lnSpc>
            </a:pPr>
            <a:r>
              <a:rPr lang="en-US" sz="2343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Synthetic taxi-trip data</a:t>
            </a:r>
          </a:p>
          <a:p>
            <a:pPr algn="l">
              <a:lnSpc>
                <a:spcPts val="3515"/>
              </a:lnSpc>
            </a:pPr>
            <a:r>
              <a:rPr lang="en-US" sz="2343" spc="-7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Traffic simulation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72625" y="6858000"/>
            <a:ext cx="1533525" cy="1933575"/>
          </a:xfrm>
          <a:custGeom>
            <a:avLst/>
            <a:gdLst/>
            <a:ahLst/>
            <a:cxnLst/>
            <a:rect r="r" b="b" t="t" l="l"/>
            <a:pathLst>
              <a:path h="1933575" w="1533525">
                <a:moveTo>
                  <a:pt x="0" y="0"/>
                </a:moveTo>
                <a:lnTo>
                  <a:pt x="1533525" y="0"/>
                </a:lnTo>
                <a:lnTo>
                  <a:pt x="1533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53850" y="6210300"/>
            <a:ext cx="5448300" cy="3219450"/>
          </a:xfrm>
          <a:custGeom>
            <a:avLst/>
            <a:gdLst/>
            <a:ahLst/>
            <a:cxnLst/>
            <a:rect r="r" b="b" t="t" l="l"/>
            <a:pathLst>
              <a:path h="3219450" w="5448300">
                <a:moveTo>
                  <a:pt x="0" y="0"/>
                </a:moveTo>
                <a:lnTo>
                  <a:pt x="5448300" y="0"/>
                </a:lnTo>
                <a:lnTo>
                  <a:pt x="5448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326112" y="6805868"/>
            <a:ext cx="2304288" cy="38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b="true" sz="2814" spc="-84">
                <a:solidFill>
                  <a:srgbClr val="007DC6"/>
                </a:solidFill>
                <a:latin typeface="Roboto Bold"/>
                <a:ea typeface="Roboto Bold"/>
                <a:cs typeface="Roboto Bold"/>
                <a:sym typeface="Roboto Bold"/>
              </a:rPr>
              <a:t>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26112" y="7402866"/>
            <a:ext cx="841248" cy="131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Vercel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</a:t>
            </a:r>
          </a:p>
          <a:p>
            <a:pPr algn="l">
              <a:lnSpc>
                <a:spcPts val="3557"/>
              </a:lnSpc>
            </a:pPr>
            <a:r>
              <a:rPr lang="en-US" sz="2371" spc="-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GitHub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801850" y="7067550"/>
            <a:ext cx="1962150" cy="1724025"/>
          </a:xfrm>
          <a:custGeom>
            <a:avLst/>
            <a:gdLst/>
            <a:ahLst/>
            <a:cxnLst/>
            <a:rect r="r" b="b" t="t" l="l"/>
            <a:pathLst>
              <a:path h="1724025" w="1962150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192625" y="3857625"/>
            <a:ext cx="885825" cy="4076700"/>
          </a:xfrm>
          <a:custGeom>
            <a:avLst/>
            <a:gdLst/>
            <a:ahLst/>
            <a:cxnLst/>
            <a:rect r="r" b="b" t="t" l="l"/>
            <a:pathLst>
              <a:path h="4076700" w="885825">
                <a:moveTo>
                  <a:pt x="0" y="0"/>
                </a:moveTo>
                <a:lnTo>
                  <a:pt x="885825" y="0"/>
                </a:lnTo>
                <a:lnTo>
                  <a:pt x="885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13232" y="733413"/>
            <a:ext cx="10607040" cy="206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b="true" sz="7995" spc="-239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TECHNOLOGY STACK &amp; </a:t>
            </a:r>
            <a:r>
              <a:rPr lang="en-US" b="true" sz="7995" spc="-239">
                <a:solidFill>
                  <a:srgbClr val="007DC6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IMPLEMENTATION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202319" y="-32559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706773"/>
            <a:ext cx="4041648" cy="150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0"/>
              </a:lnSpc>
            </a:pPr>
            <a:r>
              <a:rPr lang="en-US" sz="547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RESULTS &amp; </a:t>
            </a:r>
            <a:r>
              <a:rPr lang="en-US" sz="5472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0352" y="3216417"/>
            <a:ext cx="3547872" cy="222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  <a:r>
              <a:rPr lang="en-US" sz="24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Live system dashboard showing optimized route, key outputs, and algorithm comparison in a simulated environment.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00625" y="209550"/>
            <a:ext cx="12639675" cy="6867525"/>
          </a:xfrm>
          <a:custGeom>
            <a:avLst/>
            <a:gdLst/>
            <a:ahLst/>
            <a:cxnLst/>
            <a:rect r="r" b="b" t="t" l="l"/>
            <a:pathLst>
              <a:path h="6867525" w="12639675">
                <a:moveTo>
                  <a:pt x="0" y="0"/>
                </a:moveTo>
                <a:lnTo>
                  <a:pt x="12639675" y="0"/>
                </a:lnTo>
                <a:lnTo>
                  <a:pt x="126396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31536" y="658255"/>
            <a:ext cx="4096512" cy="23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689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INTELLIGENT TAXI ROUTE OPTIMIZATION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87700" y="63817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76320" y="709446"/>
            <a:ext cx="1060704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SIMULATED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19700" y="10668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77840" y="1359503"/>
            <a:ext cx="1170432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ROUTE DISTANCE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77840" y="1633549"/>
            <a:ext cx="1060704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12.7 km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9700" y="192405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77840" y="2507944"/>
            <a:ext cx="950976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23 min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219700" y="27813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77840" y="3382339"/>
            <a:ext cx="694944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₹145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219700" y="363855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19700" y="4495800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577840" y="5089981"/>
            <a:ext cx="1024128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300 ms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219700" y="5353050"/>
            <a:ext cx="2838450" cy="1504950"/>
          </a:xfrm>
          <a:custGeom>
            <a:avLst/>
            <a:gdLst/>
            <a:ahLst/>
            <a:cxnLst/>
            <a:rect r="r" b="b" t="t" l="l"/>
            <a:pathLst>
              <a:path h="1504950" w="2838450">
                <a:moveTo>
                  <a:pt x="0" y="0"/>
                </a:moveTo>
                <a:lnTo>
                  <a:pt x="2838450" y="0"/>
                </a:lnTo>
                <a:lnTo>
                  <a:pt x="283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577840" y="5945791"/>
            <a:ext cx="2816352" cy="59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Selected route balances lower congestion and traffic signals to minimize total travel time and cost.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048625" y="1066800"/>
            <a:ext cx="6105525" cy="5791200"/>
          </a:xfrm>
          <a:custGeom>
            <a:avLst/>
            <a:gdLst/>
            <a:ahLst/>
            <a:cxnLst/>
            <a:rect r="r" b="b" t="t" l="l"/>
            <a:pathLst>
              <a:path h="5791200" w="6105525">
                <a:moveTo>
                  <a:pt x="0" y="0"/>
                </a:moveTo>
                <a:lnTo>
                  <a:pt x="6105525" y="0"/>
                </a:lnTo>
                <a:lnTo>
                  <a:pt x="61055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67700" y="1285875"/>
            <a:ext cx="5019675" cy="4933950"/>
          </a:xfrm>
          <a:custGeom>
            <a:avLst/>
            <a:gdLst/>
            <a:ahLst/>
            <a:cxnLst/>
            <a:rect r="r" b="b" t="t" l="l"/>
            <a:pathLst>
              <a:path h="4933950" w="5019675">
                <a:moveTo>
                  <a:pt x="0" y="0"/>
                </a:moveTo>
                <a:lnTo>
                  <a:pt x="5019675" y="0"/>
                </a:lnTo>
                <a:lnTo>
                  <a:pt x="50196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53850" y="5143500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72925" y="578167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972925" y="60007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972925" y="621030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63700" y="1714500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63700" y="1924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363700" y="3000375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363700" y="320992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363700" y="4286250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63700" y="44958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410944" y="1378101"/>
            <a:ext cx="1938528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ROUTE COMPARISON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40096" y="7293370"/>
            <a:ext cx="6217920" cy="23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689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EXAMPLERUNTIME OUTPUT FROM THE DEPLOYED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85232" y="9792867"/>
            <a:ext cx="6419088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Values are illustrative and from simulated environment, not real-world results.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58416" y="2046756"/>
            <a:ext cx="144475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DQN (Selected)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58416" y="2509671"/>
            <a:ext cx="226771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12.7 km   •  23 min   •  • 145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58416" y="3353205"/>
            <a:ext cx="329184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A*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758416" y="3816120"/>
            <a:ext cx="226771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12.3 km   •  24 min   •  • 148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58416" y="4628793"/>
            <a:ext cx="768096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Dijkstra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758416" y="5091708"/>
            <a:ext cx="2267712" cy="19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47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12.5 km   •  25 min   •  • 150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77840" y="4215586"/>
            <a:ext cx="329184" cy="3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198" b="true">
                <a:solidFill>
                  <a:srgbClr val="38B6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77840" y="2275332"/>
            <a:ext cx="1444752" cy="16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125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ESTIMATED TIME (ETA)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77840" y="3149441"/>
            <a:ext cx="1353312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OPERATIONAL COST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77840" y="4003262"/>
            <a:ext cx="1463040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ROUTE STEPS (NODES)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77840" y="4877943"/>
            <a:ext cx="1901952" cy="16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125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ALGORITHM EXECUTION TIME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77840" y="5685377"/>
            <a:ext cx="1499616" cy="14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1087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AI ROUTE EXPLANATION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06656" y="5515451"/>
            <a:ext cx="1609344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TRAFFIC CONDITIONS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37008" y="5824061"/>
            <a:ext cx="310896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LOW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37008" y="6070949"/>
            <a:ext cx="768096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MODERATE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37008" y="6328124"/>
            <a:ext cx="347472" cy="16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sz="1162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NIGH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29557" y="8094400"/>
            <a:ext cx="2232834" cy="2232834"/>
          </a:xfrm>
          <a:custGeom>
            <a:avLst/>
            <a:gdLst/>
            <a:ahLst/>
            <a:cxnLst/>
            <a:rect r="r" b="b" t="t" l="l"/>
            <a:pathLst>
              <a:path h="2232834" w="2232834">
                <a:moveTo>
                  <a:pt x="0" y="0"/>
                </a:moveTo>
                <a:lnTo>
                  <a:pt x="2232834" y="0"/>
                </a:lnTo>
                <a:lnTo>
                  <a:pt x="2232834" y="2232834"/>
                </a:lnTo>
                <a:lnTo>
                  <a:pt x="0" y="223283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34775" y="2143125"/>
            <a:ext cx="1314450" cy="3648075"/>
          </a:xfrm>
          <a:custGeom>
            <a:avLst/>
            <a:gdLst/>
            <a:ahLst/>
            <a:cxnLst/>
            <a:rect r="r" b="b" t="t" l="l"/>
            <a:pathLst>
              <a:path h="3648075" w="1314450">
                <a:moveTo>
                  <a:pt x="0" y="0"/>
                </a:moveTo>
                <a:lnTo>
                  <a:pt x="1314450" y="0"/>
                </a:lnTo>
                <a:lnTo>
                  <a:pt x="1314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8775" y="4286250"/>
            <a:ext cx="5019675" cy="3648075"/>
          </a:xfrm>
          <a:custGeom>
            <a:avLst/>
            <a:gdLst/>
            <a:ahLst/>
            <a:cxnLst/>
            <a:rect r="r" b="b" t="t" l="l"/>
            <a:pathLst>
              <a:path h="3648075" w="5019675">
                <a:moveTo>
                  <a:pt x="0" y="0"/>
                </a:moveTo>
                <a:lnTo>
                  <a:pt x="5019675" y="0"/>
                </a:lnTo>
                <a:lnTo>
                  <a:pt x="5019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1520" y="3346829"/>
            <a:ext cx="6510528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 built an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intelligent taxi routing</a:t>
            </a: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4087493"/>
            <a:ext cx="6364224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Classical algorithms set a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strong baseline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4889879"/>
            <a:ext cx="6912864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DQN brings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reinforcement learning</a:t>
            </a: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to routing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5692265"/>
            <a:ext cx="8284464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End-to-end system with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simulation, AI, and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6597521"/>
            <a:ext cx="7571232" cy="4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modular architecture ready for </a:t>
            </a:r>
            <a:r>
              <a:rPr lang="en-US" sz="2814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innovation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7715250"/>
            <a:ext cx="10239375" cy="1933575"/>
          </a:xfrm>
          <a:custGeom>
            <a:avLst/>
            <a:gdLst/>
            <a:ahLst/>
            <a:cxnLst/>
            <a:rect r="r" b="b" t="t" l="l"/>
            <a:pathLst>
              <a:path h="1933575" w="10239375">
                <a:moveTo>
                  <a:pt x="0" y="0"/>
                </a:moveTo>
                <a:lnTo>
                  <a:pt x="10239375" y="0"/>
                </a:lnTo>
                <a:lnTo>
                  <a:pt x="10239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6736" y="8424400"/>
            <a:ext cx="4023360" cy="73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1"/>
              </a:lnSpc>
            </a:pPr>
            <a:r>
              <a:rPr lang="en-US" sz="5605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657850" y="8143875"/>
            <a:ext cx="228600" cy="1285875"/>
          </a:xfrm>
          <a:custGeom>
            <a:avLst/>
            <a:gdLst/>
            <a:ahLst/>
            <a:cxnLst/>
            <a:rect r="r" b="b" t="t" l="l"/>
            <a:pathLst>
              <a:path h="1285875" w="228600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99632" y="8450629"/>
            <a:ext cx="3877056" cy="67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51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QUESTIONS?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520" y="901785"/>
            <a:ext cx="7845552" cy="204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2"/>
              </a:lnSpc>
            </a:pPr>
            <a:r>
              <a:rPr lang="en-US" sz="8190" b="true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CONCLUSION &amp; </a:t>
            </a:r>
            <a:r>
              <a:rPr lang="en-US" sz="8190" b="true">
                <a:solidFill>
                  <a:srgbClr val="00A1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SCOPE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38160" y="0"/>
            <a:ext cx="3762772" cy="1836229"/>
            <a:chOff x="0" y="0"/>
            <a:chExt cx="3122905" cy="1523975"/>
          </a:xfrm>
        </p:grpSpPr>
        <p:sp>
          <p:nvSpPr>
            <p:cNvPr name="Freeform 16" id="16" descr="logoctu.png"/>
            <p:cNvSpPr/>
            <p:nvPr/>
          </p:nvSpPr>
          <p:spPr>
            <a:xfrm flipH="false" flipV="false" rot="0">
              <a:off x="0" y="0"/>
              <a:ext cx="312293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22930">
                  <a:moveTo>
                    <a:pt x="0" y="0"/>
                  </a:moveTo>
                  <a:lnTo>
                    <a:pt x="3122930" y="0"/>
                  </a:lnTo>
                  <a:lnTo>
                    <a:pt x="312293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DAHU-DzVGkw</dc:identifier>
  <dcterms:modified xsi:type="dcterms:W3CDTF">2011-08-01T06:04:30Z</dcterms:modified>
  <cp:revision>1</cp:revision>
  <dc:title>SUB,MITTED TO - MS.KHUSHI RATTAN(IBM)</dc:title>
</cp:coreProperties>
</file>